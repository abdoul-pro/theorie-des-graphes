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7" d="100"/>
          <a:sy n="67" d="100"/>
        </p:scale>
        <p:origin x="83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568E40-D097-40B8-9AE9-EA4F8D7A3431}" type="datetimeFigureOut">
              <a:rPr lang="fr-FR" smtClean="0"/>
              <a:t>10/07/2026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90B4E2-5024-4680-B151-846D231C1960}" type="slidenum">
              <a:rPr lang="fr-FR" smtClean="0"/>
              <a:t>‹N°›</a:t>
            </a:fld>
            <a:endParaRPr lang="fr-FR"/>
          </a:p>
        </p:txBody>
      </p:sp>
    </p:spTree>
    <p:extLst>
      <p:ext uri="{BB962C8B-B14F-4D97-AF65-F5344CB8AC3E}">
        <p14:creationId xmlns:p14="http://schemas.microsoft.com/office/powerpoint/2010/main" val="3547853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090B4E2-5024-4680-B151-846D231C1960}" type="slidenum">
              <a:rPr lang="fr-FR" smtClean="0"/>
              <a:t>13</a:t>
            </a:fld>
            <a:endParaRPr lang="fr-FR"/>
          </a:p>
        </p:txBody>
      </p:sp>
    </p:spTree>
    <p:extLst>
      <p:ext uri="{BB962C8B-B14F-4D97-AF65-F5344CB8AC3E}">
        <p14:creationId xmlns:p14="http://schemas.microsoft.com/office/powerpoint/2010/main" val="1502232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Abdoul-Pro/Theorie-des-Graphes/blob/main/Code%20de%20construction%20des%20graphes"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Abdoul-Pro/Theorie-des-Graphes/blob/main/Code%20de%20construction%20des%20graphes"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457200"/>
            <a:ext cx="10058400" cy="365760"/>
          </a:xfrm>
          <a:prstGeom prst="rect">
            <a:avLst/>
          </a:prstGeom>
          <a:noFill/>
        </p:spPr>
        <p:txBody>
          <a:bodyPr wrap="square">
            <a:spAutoFit/>
          </a:bodyPr>
          <a:lstStyle/>
          <a:p>
            <a:pPr algn="l">
              <a:lnSpc>
                <a:spcPts val="1800"/>
              </a:lnSpc>
            </a:pPr>
            <a:r>
              <a:rPr sz="1300" b="1" i="0">
                <a:solidFill>
                  <a:srgbClr val="90A8C4"/>
                </a:solidFill>
                <a:latin typeface="Calibri"/>
              </a:rPr>
              <a:t>UNIVERSITÉ JOSEPH KI-ZERBO</a:t>
            </a:r>
          </a:p>
        </p:txBody>
      </p:sp>
      <p:sp>
        <p:nvSpPr>
          <p:cNvPr id="5" name="TextBox 4"/>
          <p:cNvSpPr txBox="1"/>
          <p:nvPr/>
        </p:nvSpPr>
        <p:spPr>
          <a:xfrm>
            <a:off x="914400" y="868680"/>
            <a:ext cx="10058400" cy="320040"/>
          </a:xfrm>
          <a:prstGeom prst="rect">
            <a:avLst/>
          </a:prstGeom>
          <a:noFill/>
        </p:spPr>
        <p:txBody>
          <a:bodyPr wrap="square">
            <a:spAutoFit/>
          </a:bodyPr>
          <a:lstStyle/>
          <a:p>
            <a:pPr algn="l">
              <a:lnSpc>
                <a:spcPts val="1500"/>
              </a:lnSpc>
            </a:pPr>
            <a:r>
              <a:rPr sz="1100" b="0" i="0">
                <a:solidFill>
                  <a:srgbClr val="7088A8"/>
                </a:solidFill>
                <a:latin typeface="Calibri"/>
              </a:rPr>
              <a:t>Licence 1 - Informatique (L1S2)  |  Année académique : 2025-2026</a:t>
            </a:r>
          </a:p>
        </p:txBody>
      </p:sp>
      <p:sp>
        <p:nvSpPr>
          <p:cNvPr id="6" name="Rectangle 5"/>
          <p:cNvSpPr/>
          <p:nvPr/>
        </p:nvSpPr>
        <p:spPr>
          <a:xfrm>
            <a:off x="0" y="1325880"/>
            <a:ext cx="12191695" cy="2286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00200"/>
            <a:ext cx="10058400" cy="731520"/>
          </a:xfrm>
          <a:prstGeom prst="rect">
            <a:avLst/>
          </a:prstGeom>
          <a:noFill/>
        </p:spPr>
        <p:txBody>
          <a:bodyPr wrap="square">
            <a:spAutoFit/>
          </a:bodyPr>
          <a:lstStyle/>
          <a:p>
            <a:pPr algn="l">
              <a:lnSpc>
                <a:spcPts val="4700"/>
              </a:lnSpc>
            </a:pPr>
            <a:r>
              <a:rPr sz="3400" b="1" i="0">
                <a:solidFill>
                  <a:srgbClr val="FFFFFF"/>
                </a:solidFill>
                <a:latin typeface="Calibri"/>
              </a:rPr>
              <a:t>PROJET DE THÉORIE DES GRAPHES</a:t>
            </a:r>
          </a:p>
        </p:txBody>
      </p:sp>
      <p:sp>
        <p:nvSpPr>
          <p:cNvPr id="8" name="TextBox 7"/>
          <p:cNvSpPr txBox="1"/>
          <p:nvPr/>
        </p:nvSpPr>
        <p:spPr>
          <a:xfrm>
            <a:off x="914400" y="2423160"/>
            <a:ext cx="10058400" cy="548640"/>
          </a:xfrm>
          <a:prstGeom prst="rect">
            <a:avLst/>
          </a:prstGeom>
          <a:noFill/>
        </p:spPr>
        <p:txBody>
          <a:bodyPr wrap="square">
            <a:spAutoFit/>
          </a:bodyPr>
          <a:lstStyle/>
          <a:p>
            <a:pPr algn="l">
              <a:lnSpc>
                <a:spcPts val="3300"/>
              </a:lnSpc>
            </a:pPr>
            <a:r>
              <a:rPr sz="2400" b="1" i="0">
                <a:solidFill>
                  <a:srgbClr val="C49A1C"/>
                </a:solidFill>
                <a:latin typeface="Calibri"/>
              </a:rPr>
              <a:t>Graphe de connaissances : Modélisation d'un quartier</a:t>
            </a:r>
          </a:p>
        </p:txBody>
      </p:sp>
      <p:sp>
        <p:nvSpPr>
          <p:cNvPr id="9" name="TextBox 8"/>
          <p:cNvSpPr txBox="1"/>
          <p:nvPr/>
        </p:nvSpPr>
        <p:spPr>
          <a:xfrm>
            <a:off x="914400" y="3154680"/>
            <a:ext cx="9144000" cy="932691"/>
          </a:xfrm>
          <a:prstGeom prst="rect">
            <a:avLst/>
          </a:prstGeom>
          <a:noFill/>
        </p:spPr>
        <p:txBody>
          <a:bodyPr wrap="square">
            <a:spAutoFit/>
          </a:bodyPr>
          <a:lstStyle/>
          <a:p>
            <a:pPr algn="l">
              <a:lnSpc>
                <a:spcPct val="150000"/>
              </a:lnSpc>
            </a:pPr>
            <a:r>
              <a:rPr sz="1300" b="0" i="0" dirty="0">
                <a:solidFill>
                  <a:srgbClr val="90A8C4"/>
                </a:solidFill>
                <a:latin typeface="Calibri"/>
              </a:rPr>
              <a:t>Sous la supervision de : Dr </a:t>
            </a:r>
            <a:r>
              <a:rPr sz="1300" b="0" i="0" dirty="0" err="1">
                <a:solidFill>
                  <a:srgbClr val="90A8C4"/>
                </a:solidFill>
                <a:latin typeface="Calibri"/>
              </a:rPr>
              <a:t>Serges</a:t>
            </a:r>
            <a:r>
              <a:rPr sz="1300" b="0" i="0" dirty="0">
                <a:solidFill>
                  <a:srgbClr val="90A8C4"/>
                </a:solidFill>
                <a:latin typeface="Calibri"/>
              </a:rPr>
              <a:t> SONCFACK</a:t>
            </a:r>
            <a:endParaRPr lang="fr-FR" sz="1300" dirty="0">
              <a:solidFill>
                <a:srgbClr val="90A8C4"/>
              </a:solidFill>
              <a:latin typeface="Calibri"/>
            </a:endParaRPr>
          </a:p>
          <a:p>
            <a:pPr>
              <a:lnSpc>
                <a:spcPct val="150000"/>
              </a:lnSpc>
            </a:pPr>
            <a:r>
              <a:rPr lang="fr-FR" sz="1400" dirty="0">
                <a:hlinkClick r:id="rId2"/>
              </a:rPr>
              <a:t>Voir le dépôt GitHub</a:t>
            </a:r>
            <a:endParaRPr lang="fr-FR" sz="1400" dirty="0"/>
          </a:p>
          <a:p>
            <a:pPr algn="l">
              <a:lnSpc>
                <a:spcPts val="1800"/>
              </a:lnSpc>
            </a:pPr>
            <a:endParaRPr sz="1300" b="0" i="0" dirty="0">
              <a:solidFill>
                <a:srgbClr val="90A8C4"/>
              </a:solidFill>
              <a:latin typeface="Calibri"/>
            </a:endParaRPr>
          </a:p>
        </p:txBody>
      </p:sp>
      <p:sp>
        <p:nvSpPr>
          <p:cNvPr id="10" name="Rectangle 9"/>
          <p:cNvSpPr/>
          <p:nvPr/>
        </p:nvSpPr>
        <p:spPr>
          <a:xfrm>
            <a:off x="914400" y="3860488"/>
            <a:ext cx="10515600" cy="10972"/>
          </a:xfrm>
          <a:prstGeom prst="rect">
            <a:avLst/>
          </a:prstGeom>
          <a:solidFill>
            <a:srgbClr val="304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869056"/>
            <a:ext cx="3657600" cy="320040"/>
          </a:xfrm>
          <a:prstGeom prst="rect">
            <a:avLst/>
          </a:prstGeom>
          <a:noFill/>
        </p:spPr>
        <p:txBody>
          <a:bodyPr wrap="square">
            <a:spAutoFit/>
          </a:bodyPr>
          <a:lstStyle/>
          <a:p>
            <a:pPr algn="l">
              <a:lnSpc>
                <a:spcPts val="1800"/>
              </a:lnSpc>
            </a:pPr>
            <a:r>
              <a:rPr sz="1300" b="1" i="0" dirty="0" err="1">
                <a:solidFill>
                  <a:srgbClr val="FFFFFF"/>
                </a:solidFill>
                <a:latin typeface="Calibri"/>
              </a:rPr>
              <a:t>Présenté</a:t>
            </a:r>
            <a:r>
              <a:rPr sz="1300" b="1" i="0" dirty="0">
                <a:solidFill>
                  <a:srgbClr val="FFFFFF"/>
                </a:solidFill>
                <a:latin typeface="Calibri"/>
              </a:rPr>
              <a:t> par : Groupe 5</a:t>
            </a:r>
          </a:p>
        </p:txBody>
      </p:sp>
      <p:graphicFrame>
        <p:nvGraphicFramePr>
          <p:cNvPr id="12" name="Table 11"/>
          <p:cNvGraphicFramePr>
            <a:graphicFrameLocks noGrp="1"/>
          </p:cNvGraphicFramePr>
          <p:nvPr/>
        </p:nvGraphicFramePr>
        <p:xfrm>
          <a:off x="1371600" y="4251960"/>
          <a:ext cx="9418320" cy="237744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396240">
                <a:tc>
                  <a:txBody>
                    <a:bodyPr/>
                    <a:lstStyle/>
                    <a:p>
                      <a:pPr algn="ctr">
                        <a:spcBef>
                          <a:spcPts val="200"/>
                        </a:spcBef>
                        <a:spcAft>
                          <a:spcPts val="200"/>
                        </a:spcAft>
                      </a:pPr>
                      <a:r>
                        <a:rPr sz="1200" b="1">
                          <a:solidFill>
                            <a:srgbClr val="FFFFFF"/>
                          </a:solidFill>
                          <a:latin typeface="Calibri"/>
                        </a:rPr>
                        <a:t>N°</a:t>
                      </a:r>
                    </a:p>
                  </a:txBody>
                  <a:tcPr marL="73152" marR="73152" marT="36576" marB="36576" anchor="ctr">
                    <a:solidFill>
                      <a:srgbClr val="1B2A4A"/>
                    </a:solidFill>
                  </a:tcPr>
                </a:tc>
                <a:tc>
                  <a:txBody>
                    <a:bodyPr/>
                    <a:lstStyle/>
                    <a:p>
                      <a:pPr algn="ctr">
                        <a:spcBef>
                          <a:spcPts val="200"/>
                        </a:spcBef>
                        <a:spcAft>
                          <a:spcPts val="200"/>
                        </a:spcAft>
                      </a:pPr>
                      <a:r>
                        <a:rPr sz="1200" b="1">
                          <a:solidFill>
                            <a:srgbClr val="FFFFFF"/>
                          </a:solidFill>
                          <a:latin typeface="Calibri"/>
                        </a:rPr>
                        <a:t>Nom</a:t>
                      </a:r>
                    </a:p>
                  </a:txBody>
                  <a:tcPr marL="73152" marR="73152" marT="36576" marB="36576" anchor="ctr">
                    <a:solidFill>
                      <a:srgbClr val="1B2A4A"/>
                    </a:solidFill>
                  </a:tcPr>
                </a:tc>
                <a:tc>
                  <a:txBody>
                    <a:bodyPr/>
                    <a:lstStyle/>
                    <a:p>
                      <a:pPr algn="ctr">
                        <a:spcBef>
                          <a:spcPts val="200"/>
                        </a:spcBef>
                        <a:spcAft>
                          <a:spcPts val="200"/>
                        </a:spcAft>
                      </a:pPr>
                      <a:r>
                        <a:rPr sz="1200" b="1">
                          <a:solidFill>
                            <a:srgbClr val="FFFFFF"/>
                          </a:solidFill>
                          <a:latin typeface="Calibri"/>
                        </a:rPr>
                        <a:t>Prénom</a:t>
                      </a:r>
                    </a:p>
                  </a:txBody>
                  <a:tcPr marL="73152" marR="73152" marT="36576" marB="36576" anchor="ctr">
                    <a:solidFill>
                      <a:srgbClr val="1B2A4A"/>
                    </a:solidFill>
                  </a:tcPr>
                </a:tc>
                <a:extLst>
                  <a:ext uri="{0D108BD9-81ED-4DB2-BD59-A6C34878D82A}">
                    <a16:rowId xmlns:a16="http://schemas.microsoft.com/office/drawing/2014/main" val="10000"/>
                  </a:ext>
                </a:extLst>
              </a:tr>
              <a:tr h="396240">
                <a:tc>
                  <a:txBody>
                    <a:bodyPr/>
                    <a:lstStyle/>
                    <a:p>
                      <a:pPr algn="ctr">
                        <a:spcBef>
                          <a:spcPts val="200"/>
                        </a:spcBef>
                        <a:spcAft>
                          <a:spcPts val="200"/>
                        </a:spcAft>
                      </a:pPr>
                      <a:r>
                        <a:rPr sz="1200" b="0">
                          <a:solidFill>
                            <a:srgbClr val="2D2D2D"/>
                          </a:solidFill>
                          <a:latin typeface="Calibri"/>
                        </a:rPr>
                        <a:t>1</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GOUEM</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Aboubacar Sidiki</a:t>
                      </a:r>
                    </a:p>
                  </a:txBody>
                  <a:tcPr marL="73152" marR="73152" marT="36576" marB="36576" anchor="ctr">
                    <a:lnL w="0" cap="flat" cmpd="sng" algn="ctr"/>
                    <a:lnR w="0" cap="flat" cmpd="sng" algn="ctr"/>
                    <a:lnB w="6350" cap="flat" cmpd="sng" algn="ctr">
                      <a:solidFill>
                        <a:srgbClr val="1B2A4A"/>
                      </a:solidFill>
                    </a:lnB>
                  </a:tcPr>
                </a:tc>
                <a:extLst>
                  <a:ext uri="{0D108BD9-81ED-4DB2-BD59-A6C34878D82A}">
                    <a16:rowId xmlns:a16="http://schemas.microsoft.com/office/drawing/2014/main" val="10001"/>
                  </a:ext>
                </a:extLst>
              </a:tr>
              <a:tr h="396240">
                <a:tc>
                  <a:txBody>
                    <a:bodyPr/>
                    <a:lstStyle/>
                    <a:p>
                      <a:pPr algn="ctr">
                        <a:spcBef>
                          <a:spcPts val="200"/>
                        </a:spcBef>
                        <a:spcAft>
                          <a:spcPts val="200"/>
                        </a:spcAft>
                      </a:pPr>
                      <a:r>
                        <a:rPr sz="1200" b="0">
                          <a:solidFill>
                            <a:srgbClr val="2D2D2D"/>
                          </a:solidFill>
                          <a:latin typeface="Calibri"/>
                        </a:rPr>
                        <a:t>2</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SORE</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Fadal</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extLst>
                  <a:ext uri="{0D108BD9-81ED-4DB2-BD59-A6C34878D82A}">
                    <a16:rowId xmlns:a16="http://schemas.microsoft.com/office/drawing/2014/main" val="10002"/>
                  </a:ext>
                </a:extLst>
              </a:tr>
              <a:tr h="396240">
                <a:tc>
                  <a:txBody>
                    <a:bodyPr/>
                    <a:lstStyle/>
                    <a:p>
                      <a:pPr algn="ctr">
                        <a:spcBef>
                          <a:spcPts val="200"/>
                        </a:spcBef>
                        <a:spcAft>
                          <a:spcPts val="200"/>
                        </a:spcAft>
                      </a:pPr>
                      <a:r>
                        <a:rPr sz="1200" b="0">
                          <a:solidFill>
                            <a:srgbClr val="2D2D2D"/>
                          </a:solidFill>
                          <a:latin typeface="Calibri"/>
                        </a:rPr>
                        <a:t>3</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SAWADOGO</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Djemila</a:t>
                      </a:r>
                    </a:p>
                  </a:txBody>
                  <a:tcPr marL="73152" marR="73152" marT="36576" marB="36576" anchor="ctr">
                    <a:lnL w="0" cap="flat" cmpd="sng" algn="ctr"/>
                    <a:lnR w="0" cap="flat" cmpd="sng" algn="ctr"/>
                    <a:lnB w="6350" cap="flat" cmpd="sng" algn="ctr">
                      <a:solidFill>
                        <a:srgbClr val="1B2A4A"/>
                      </a:solidFill>
                    </a:lnB>
                  </a:tcPr>
                </a:tc>
                <a:extLst>
                  <a:ext uri="{0D108BD9-81ED-4DB2-BD59-A6C34878D82A}">
                    <a16:rowId xmlns:a16="http://schemas.microsoft.com/office/drawing/2014/main" val="10003"/>
                  </a:ext>
                </a:extLst>
              </a:tr>
              <a:tr h="396240">
                <a:tc>
                  <a:txBody>
                    <a:bodyPr/>
                    <a:lstStyle/>
                    <a:p>
                      <a:pPr algn="ctr">
                        <a:spcBef>
                          <a:spcPts val="200"/>
                        </a:spcBef>
                        <a:spcAft>
                          <a:spcPts val="200"/>
                        </a:spcAft>
                      </a:pPr>
                      <a:r>
                        <a:rPr sz="1200" b="0">
                          <a:solidFill>
                            <a:srgbClr val="2D2D2D"/>
                          </a:solidFill>
                          <a:latin typeface="Calibri"/>
                        </a:rPr>
                        <a:t>4</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SAWADOGO</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Idrissa</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extLst>
                  <a:ext uri="{0D108BD9-81ED-4DB2-BD59-A6C34878D82A}">
                    <a16:rowId xmlns:a16="http://schemas.microsoft.com/office/drawing/2014/main" val="10004"/>
                  </a:ext>
                </a:extLst>
              </a:tr>
              <a:tr h="396240">
                <a:tc>
                  <a:txBody>
                    <a:bodyPr/>
                    <a:lstStyle/>
                    <a:p>
                      <a:pPr algn="ctr">
                        <a:spcBef>
                          <a:spcPts val="200"/>
                        </a:spcBef>
                        <a:spcAft>
                          <a:spcPts val="200"/>
                        </a:spcAft>
                      </a:pPr>
                      <a:r>
                        <a:rPr sz="1200" b="0">
                          <a:solidFill>
                            <a:srgbClr val="2D2D2D"/>
                          </a:solidFill>
                          <a:latin typeface="Calibri"/>
                        </a:rPr>
                        <a:t>5</a:t>
                      </a:r>
                    </a:p>
                  </a:txBody>
                  <a:tcPr marL="73152" marR="73152" marT="36576" marB="36576" anchor="ctr">
                    <a:lnL w="0" cap="flat" cmpd="sng" algn="ctr"/>
                    <a:lnR w="0" cap="flat" cmpd="sng" algn="ctr"/>
                    <a:lnB w="1270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DICKO</a:t>
                      </a:r>
                    </a:p>
                  </a:txBody>
                  <a:tcPr marL="73152" marR="73152" marT="36576" marB="36576" anchor="ctr">
                    <a:lnL w="0" cap="flat" cmpd="sng" algn="ctr"/>
                    <a:lnR w="0" cap="flat" cmpd="sng" algn="ctr"/>
                    <a:lnB w="12700" cap="flat" cmpd="sng" algn="ctr">
                      <a:solidFill>
                        <a:srgbClr val="1B2A4A"/>
                      </a:solidFill>
                    </a:lnB>
                  </a:tcPr>
                </a:tc>
                <a:tc>
                  <a:txBody>
                    <a:bodyPr/>
                    <a:lstStyle/>
                    <a:p>
                      <a:pPr algn="l">
                        <a:spcBef>
                          <a:spcPts val="200"/>
                        </a:spcBef>
                        <a:spcAft>
                          <a:spcPts val="200"/>
                        </a:spcAft>
                      </a:pPr>
                      <a:r>
                        <a:rPr sz="1200" b="0" dirty="0">
                          <a:solidFill>
                            <a:srgbClr val="2D2D2D"/>
                          </a:solidFill>
                          <a:latin typeface="Calibri"/>
                        </a:rPr>
                        <a:t>Idrissa B KALILOU</a:t>
                      </a:r>
                    </a:p>
                  </a:txBody>
                  <a:tcPr marL="73152" marR="73152" marT="36576" marB="36576" anchor="ctr">
                    <a:lnL w="0" cap="flat" cmpd="sng" algn="ctr"/>
                    <a:lnR w="0" cap="flat" cmpd="sng" algn="ctr"/>
                    <a:lnB w="12700" cap="flat" cmpd="sng" algn="ctr">
                      <a:solidFill>
                        <a:srgbClr val="1B2A4A"/>
                      </a:solidFill>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91695" cy="3657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537960"/>
            <a:ext cx="10972800" cy="274320"/>
          </a:xfrm>
          <a:prstGeom prst="rect">
            <a:avLst/>
          </a:prstGeom>
          <a:noFill/>
        </p:spPr>
        <p:txBody>
          <a:bodyPr wrap="none">
            <a:spAutoFit/>
          </a:bodyPr>
          <a:lstStyle/>
          <a:p>
            <a:pPr algn="l"/>
            <a:r>
              <a:rPr sz="900">
                <a:solidFill>
                  <a:srgbClr val="90A8C4"/>
                </a:solidFill>
                <a:latin typeface="Calibri"/>
              </a:rPr>
              <a:t>Graphe de connaissances : Modélisation d'un quartier</a:t>
            </a:r>
          </a:p>
        </p:txBody>
      </p:sp>
      <p:sp>
        <p:nvSpPr>
          <p:cNvPr id="6" name="TextBox 5"/>
          <p:cNvSpPr txBox="1"/>
          <p:nvPr/>
        </p:nvSpPr>
        <p:spPr>
          <a:xfrm>
            <a:off x="10515600" y="6537960"/>
            <a:ext cx="1371600" cy="274320"/>
          </a:xfrm>
          <a:prstGeom prst="rect">
            <a:avLst/>
          </a:prstGeom>
          <a:noFill/>
        </p:spPr>
        <p:txBody>
          <a:bodyPr wrap="none">
            <a:spAutoFit/>
          </a:bodyPr>
          <a:lstStyle/>
          <a:p>
            <a:pPr algn="r"/>
            <a:r>
              <a:rPr sz="900">
                <a:solidFill>
                  <a:srgbClr val="90A8C4"/>
                </a:solidFill>
                <a:latin typeface="Calibri"/>
              </a:rPr>
              <a:t>2 / 13</a:t>
            </a:r>
          </a:p>
        </p:txBody>
      </p:sp>
      <p:sp>
        <p:nvSpPr>
          <p:cNvPr id="7" name="Rounded Rectangle 6"/>
          <p:cNvSpPr/>
          <p:nvPr/>
        </p:nvSpPr>
        <p:spPr>
          <a:xfrm>
            <a:off x="731520" y="320040"/>
            <a:ext cx="1463040" cy="347472"/>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ÉTAPE 1</a:t>
            </a:r>
          </a:p>
        </p:txBody>
      </p:sp>
      <p:sp>
        <p:nvSpPr>
          <p:cNvPr id="8" name="TextBox 7"/>
          <p:cNvSpPr txBox="1"/>
          <p:nvPr/>
        </p:nvSpPr>
        <p:spPr>
          <a:xfrm>
            <a:off x="731520" y="777240"/>
            <a:ext cx="10698480" cy="731520"/>
          </a:xfrm>
          <a:prstGeom prst="rect">
            <a:avLst/>
          </a:prstGeom>
          <a:noFill/>
        </p:spPr>
        <p:txBody>
          <a:bodyPr wrap="square">
            <a:spAutoFit/>
          </a:bodyPr>
          <a:lstStyle/>
          <a:p>
            <a:pPr algn="l">
              <a:lnSpc>
                <a:spcPts val="3900"/>
              </a:lnSpc>
            </a:pPr>
            <a:r>
              <a:rPr sz="2800" b="1" i="0" dirty="0">
                <a:solidFill>
                  <a:srgbClr val="1B2A4A"/>
                </a:solidFill>
                <a:latin typeface="Calibri"/>
              </a:rPr>
              <a:t>Choix du </a:t>
            </a:r>
            <a:r>
              <a:rPr sz="2800" b="1" i="0" dirty="0" err="1">
                <a:solidFill>
                  <a:srgbClr val="1B2A4A"/>
                </a:solidFill>
                <a:latin typeface="Calibri"/>
              </a:rPr>
              <a:t>domaine</a:t>
            </a:r>
            <a:endParaRPr sz="2800" b="1" i="0" dirty="0">
              <a:solidFill>
                <a:srgbClr val="1B2A4A"/>
              </a:solidFill>
              <a:latin typeface="Calibri"/>
            </a:endParaRPr>
          </a:p>
        </p:txBody>
      </p:sp>
      <p:sp>
        <p:nvSpPr>
          <p:cNvPr id="9" name="Rectangle 8"/>
          <p:cNvSpPr/>
          <p:nvPr/>
        </p:nvSpPr>
        <p:spPr>
          <a:xfrm>
            <a:off x="0" y="1143000"/>
            <a:ext cx="109728" cy="475488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99292" y="1680208"/>
            <a:ext cx="9488615" cy="4692247"/>
          </a:xfrm>
          <a:prstGeom prst="rect">
            <a:avLst/>
          </a:prstGeom>
          <a:noFill/>
        </p:spPr>
        <p:txBody>
          <a:bodyPr wrap="square">
            <a:spAutoFit/>
          </a:bodyPr>
          <a:lstStyle/>
          <a:p>
            <a:pPr algn="l">
              <a:lnSpc>
                <a:spcPts val="2600"/>
              </a:lnSpc>
            </a:pPr>
            <a:r>
              <a:rPr sz="1800" b="1" dirty="0">
                <a:solidFill>
                  <a:srgbClr val="1B2A4A"/>
                </a:solidFill>
                <a:latin typeface="Calibri"/>
              </a:rPr>
              <a:t>Description :</a:t>
            </a:r>
            <a:endParaRPr lang="fr-FR" sz="1800" b="1" dirty="0">
              <a:solidFill>
                <a:srgbClr val="1B2A4A"/>
              </a:solidFill>
              <a:latin typeface="Calibri"/>
            </a:endParaRPr>
          </a:p>
          <a:p>
            <a:pPr algn="l">
              <a:lnSpc>
                <a:spcPts val="2600"/>
              </a:lnSpc>
            </a:pPr>
            <a:endParaRPr sz="1800" b="1" dirty="0">
              <a:solidFill>
                <a:srgbClr val="1B2A4A"/>
              </a:solidFill>
              <a:latin typeface="Calibri"/>
            </a:endParaRPr>
          </a:p>
          <a:p>
            <a:pPr lvl="0">
              <a:lnSpc>
                <a:spcPct val="150000"/>
              </a:lnSpc>
            </a:pPr>
            <a:r>
              <a:rPr lang="fr-FR" sz="1600" dirty="0"/>
              <a:t>Nous avons choisi comme domaine d’étude un quartier, car il représente un environnement de vie où plusieurs personnes, lieux et services sont reliés entre eux.</a:t>
            </a:r>
          </a:p>
          <a:p>
            <a:pPr lvl="0">
              <a:lnSpc>
                <a:spcPct val="150000"/>
              </a:lnSpc>
            </a:pPr>
            <a:endParaRPr lang="fr-FR" sz="1600" dirty="0"/>
          </a:p>
          <a:p>
            <a:pPr lvl="0">
              <a:lnSpc>
                <a:spcPct val="150000"/>
              </a:lnSpc>
            </a:pPr>
            <a:r>
              <a:rPr lang="fr-FR" sz="1600" dirty="0"/>
              <a:t>Un quartier est composé d’habitants de différents âges (enfants, adolescent, adultes et personnes âgées), de maisons, d’écoles, de commerces, de centres de santé, de routes et d’autres infrastructures.</a:t>
            </a:r>
          </a:p>
          <a:p>
            <a:pPr>
              <a:lnSpc>
                <a:spcPct val="150000"/>
              </a:lnSpc>
              <a:spcBef>
                <a:spcPts val="1400"/>
              </a:spcBef>
            </a:pPr>
            <a:r>
              <a:rPr sz="1700" dirty="0">
                <a:solidFill>
                  <a:srgbClr val="2D2D2D"/>
                </a:solidFill>
                <a:latin typeface="Calibri"/>
              </a:rPr>
              <a:t>Les habitants se </a:t>
            </a:r>
            <a:r>
              <a:rPr sz="1700" dirty="0" err="1">
                <a:solidFill>
                  <a:srgbClr val="2D2D2D"/>
                </a:solidFill>
                <a:latin typeface="Calibri"/>
              </a:rPr>
              <a:t>déclinent</a:t>
            </a:r>
            <a:r>
              <a:rPr sz="1700" dirty="0">
                <a:solidFill>
                  <a:srgbClr val="2D2D2D"/>
                </a:solidFill>
                <a:latin typeface="Calibri"/>
              </a:rPr>
              <a:t> </a:t>
            </a:r>
            <a:r>
              <a:rPr sz="1700" dirty="0" err="1">
                <a:solidFill>
                  <a:srgbClr val="2D2D2D"/>
                </a:solidFill>
                <a:latin typeface="Calibri"/>
              </a:rPr>
              <a:t>en</a:t>
            </a:r>
            <a:r>
              <a:rPr sz="1700" dirty="0">
                <a:solidFill>
                  <a:srgbClr val="2D2D2D"/>
                </a:solidFill>
                <a:latin typeface="Calibri"/>
              </a:rPr>
              <a:t> sous-types </a:t>
            </a:r>
            <a:r>
              <a:rPr sz="1700" dirty="0" err="1">
                <a:solidFill>
                  <a:srgbClr val="2D2D2D"/>
                </a:solidFill>
                <a:latin typeface="Calibri"/>
              </a:rPr>
              <a:t>selon</a:t>
            </a:r>
            <a:r>
              <a:rPr sz="1700" dirty="0">
                <a:solidFill>
                  <a:srgbClr val="2D2D2D"/>
                </a:solidFill>
                <a:latin typeface="Calibri"/>
              </a:rPr>
              <a:t> </a:t>
            </a:r>
            <a:r>
              <a:rPr sz="1700" dirty="0" err="1">
                <a:solidFill>
                  <a:srgbClr val="2D2D2D"/>
                </a:solidFill>
                <a:latin typeface="Calibri"/>
              </a:rPr>
              <a:t>leur</a:t>
            </a:r>
            <a:r>
              <a:rPr sz="1700" dirty="0">
                <a:solidFill>
                  <a:srgbClr val="2D2D2D"/>
                </a:solidFill>
                <a:latin typeface="Calibri"/>
              </a:rPr>
              <a:t> tranche </a:t>
            </a:r>
            <a:r>
              <a:rPr sz="1700" dirty="0" err="1">
                <a:solidFill>
                  <a:srgbClr val="2D2D2D"/>
                </a:solidFill>
                <a:latin typeface="Calibri"/>
              </a:rPr>
              <a:t>d'âge</a:t>
            </a:r>
            <a:r>
              <a:rPr sz="1700" dirty="0">
                <a:solidFill>
                  <a:srgbClr val="2D2D2D"/>
                </a:solidFill>
                <a:latin typeface="Calibri"/>
              </a:rPr>
              <a:t> :</a:t>
            </a:r>
          </a:p>
          <a:p>
            <a:pPr lvl="1">
              <a:lnSpc>
                <a:spcPts val="2400"/>
              </a:lnSpc>
              <a:spcBef>
                <a:spcPts val="600"/>
              </a:spcBef>
            </a:pPr>
            <a:r>
              <a:rPr sz="1600" b="1" dirty="0">
                <a:solidFill>
                  <a:srgbClr val="C49A1C"/>
                </a:solidFill>
                <a:latin typeface="Calibri"/>
              </a:rPr>
              <a:t>    ▸  </a:t>
            </a:r>
            <a:r>
              <a:rPr sz="1600" dirty="0">
                <a:solidFill>
                  <a:srgbClr val="2D2D2D"/>
                </a:solidFill>
                <a:latin typeface="Calibri"/>
              </a:rPr>
              <a:t>Enfant (</a:t>
            </a:r>
            <a:r>
              <a:rPr sz="1600" dirty="0" err="1">
                <a:solidFill>
                  <a:srgbClr val="2D2D2D"/>
                </a:solidFill>
                <a:latin typeface="Calibri"/>
              </a:rPr>
              <a:t>moins</a:t>
            </a:r>
            <a:r>
              <a:rPr sz="1600" dirty="0">
                <a:solidFill>
                  <a:srgbClr val="2D2D2D"/>
                </a:solidFill>
                <a:latin typeface="Calibri"/>
              </a:rPr>
              <a:t> de 18 </a:t>
            </a:r>
            <a:r>
              <a:rPr sz="1600" dirty="0" err="1">
                <a:solidFill>
                  <a:srgbClr val="2D2D2D"/>
                </a:solidFill>
                <a:latin typeface="Calibri"/>
              </a:rPr>
              <a:t>ans</a:t>
            </a:r>
            <a:r>
              <a:rPr sz="1600" dirty="0">
                <a:solidFill>
                  <a:srgbClr val="2D2D2D"/>
                </a:solidFill>
                <a:latin typeface="Calibri"/>
              </a:rPr>
              <a:t>)</a:t>
            </a:r>
          </a:p>
          <a:p>
            <a:pPr lvl="1">
              <a:lnSpc>
                <a:spcPts val="2400"/>
              </a:lnSpc>
              <a:spcBef>
                <a:spcPts val="600"/>
              </a:spcBef>
            </a:pPr>
            <a:r>
              <a:rPr sz="1600" b="1" dirty="0">
                <a:solidFill>
                  <a:srgbClr val="C49A1C"/>
                </a:solidFill>
                <a:latin typeface="Calibri"/>
              </a:rPr>
              <a:t>    ▸  </a:t>
            </a:r>
            <a:r>
              <a:rPr sz="1600" dirty="0">
                <a:solidFill>
                  <a:srgbClr val="2D2D2D"/>
                </a:solidFill>
                <a:latin typeface="Calibri"/>
              </a:rPr>
              <a:t>Adolescent (jeune du quartier)</a:t>
            </a:r>
          </a:p>
          <a:p>
            <a:pPr lvl="1">
              <a:lnSpc>
                <a:spcPts val="2400"/>
              </a:lnSpc>
              <a:spcBef>
                <a:spcPts val="600"/>
              </a:spcBef>
            </a:pPr>
            <a:r>
              <a:rPr sz="1600" b="1" dirty="0">
                <a:solidFill>
                  <a:srgbClr val="C49A1C"/>
                </a:solidFill>
                <a:latin typeface="Calibri"/>
              </a:rPr>
              <a:t>    ▸  </a:t>
            </a:r>
            <a:r>
              <a:rPr sz="1600" dirty="0">
                <a:solidFill>
                  <a:srgbClr val="2D2D2D"/>
                </a:solidFill>
                <a:latin typeface="Calibri"/>
              </a:rPr>
              <a:t>Adulte (</a:t>
            </a:r>
            <a:r>
              <a:rPr sz="1600" dirty="0" err="1">
                <a:solidFill>
                  <a:srgbClr val="2D2D2D"/>
                </a:solidFill>
                <a:latin typeface="Calibri"/>
              </a:rPr>
              <a:t>personne</a:t>
            </a:r>
            <a:r>
              <a:rPr sz="1600" dirty="0">
                <a:solidFill>
                  <a:srgbClr val="2D2D2D"/>
                </a:solidFill>
                <a:latin typeface="Calibri"/>
              </a:rPr>
              <a:t> majeure)</a:t>
            </a:r>
          </a:p>
          <a:p>
            <a:pPr lvl="1">
              <a:lnSpc>
                <a:spcPts val="2400"/>
              </a:lnSpc>
              <a:spcBef>
                <a:spcPts val="600"/>
              </a:spcBef>
            </a:pPr>
            <a:r>
              <a:rPr sz="1600" b="1" dirty="0">
                <a:solidFill>
                  <a:srgbClr val="C49A1C"/>
                </a:solidFill>
                <a:latin typeface="Calibri"/>
              </a:rPr>
              <a:t>    ▸  </a:t>
            </a:r>
            <a:r>
              <a:rPr sz="1600" dirty="0">
                <a:solidFill>
                  <a:srgbClr val="2D2D2D"/>
                </a:solidFill>
                <a:latin typeface="Calibri"/>
              </a:rPr>
              <a:t>Personne </a:t>
            </a:r>
            <a:r>
              <a:rPr sz="1600" dirty="0" err="1">
                <a:solidFill>
                  <a:srgbClr val="2D2D2D"/>
                </a:solidFill>
                <a:latin typeface="Calibri"/>
              </a:rPr>
              <a:t>âgée</a:t>
            </a:r>
            <a:r>
              <a:rPr sz="1600" dirty="0">
                <a:solidFill>
                  <a:srgbClr val="2D2D2D"/>
                </a:solidFill>
                <a:latin typeface="Calibri"/>
              </a:rPr>
              <a:t> (habitant </a:t>
            </a:r>
            <a:r>
              <a:rPr sz="1600" dirty="0" err="1">
                <a:solidFill>
                  <a:srgbClr val="2D2D2D"/>
                </a:solidFill>
                <a:latin typeface="Calibri"/>
              </a:rPr>
              <a:t>âgé</a:t>
            </a:r>
            <a:r>
              <a:rPr sz="1600" dirty="0">
                <a:solidFill>
                  <a:srgbClr val="2D2D2D"/>
                </a:solidFill>
                <a:latin typeface="Calibri"/>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4294"/>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91695" cy="3657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537960"/>
            <a:ext cx="10972800" cy="274320"/>
          </a:xfrm>
          <a:prstGeom prst="rect">
            <a:avLst/>
          </a:prstGeom>
          <a:noFill/>
        </p:spPr>
        <p:txBody>
          <a:bodyPr wrap="none">
            <a:spAutoFit/>
          </a:bodyPr>
          <a:lstStyle/>
          <a:p>
            <a:pPr algn="l"/>
            <a:r>
              <a:rPr sz="900">
                <a:solidFill>
                  <a:srgbClr val="90A8C4"/>
                </a:solidFill>
                <a:latin typeface="Calibri"/>
              </a:rPr>
              <a:t>Graphe de connaissances : Modélisation d'un quartier</a:t>
            </a:r>
          </a:p>
        </p:txBody>
      </p:sp>
      <p:sp>
        <p:nvSpPr>
          <p:cNvPr id="6" name="TextBox 5"/>
          <p:cNvSpPr txBox="1"/>
          <p:nvPr/>
        </p:nvSpPr>
        <p:spPr>
          <a:xfrm>
            <a:off x="10515600" y="6537960"/>
            <a:ext cx="1371600" cy="274320"/>
          </a:xfrm>
          <a:prstGeom prst="rect">
            <a:avLst/>
          </a:prstGeom>
          <a:noFill/>
        </p:spPr>
        <p:txBody>
          <a:bodyPr wrap="none">
            <a:spAutoFit/>
          </a:bodyPr>
          <a:lstStyle/>
          <a:p>
            <a:pPr algn="r"/>
            <a:r>
              <a:rPr sz="900">
                <a:solidFill>
                  <a:srgbClr val="90A8C4"/>
                </a:solidFill>
                <a:latin typeface="Calibri"/>
              </a:rPr>
              <a:t>3 / 13</a:t>
            </a:r>
          </a:p>
        </p:txBody>
      </p:sp>
      <p:sp>
        <p:nvSpPr>
          <p:cNvPr id="7" name="Rounded Rectangle 6"/>
          <p:cNvSpPr/>
          <p:nvPr/>
        </p:nvSpPr>
        <p:spPr>
          <a:xfrm>
            <a:off x="731520" y="320040"/>
            <a:ext cx="1463040" cy="347472"/>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ÉTAPE 2</a:t>
            </a:r>
          </a:p>
        </p:txBody>
      </p:sp>
      <p:sp>
        <p:nvSpPr>
          <p:cNvPr id="8" name="TextBox 7"/>
          <p:cNvSpPr txBox="1"/>
          <p:nvPr/>
        </p:nvSpPr>
        <p:spPr>
          <a:xfrm>
            <a:off x="731520" y="777240"/>
            <a:ext cx="10698480" cy="731520"/>
          </a:xfrm>
          <a:prstGeom prst="rect">
            <a:avLst/>
          </a:prstGeom>
          <a:noFill/>
        </p:spPr>
        <p:txBody>
          <a:bodyPr wrap="square">
            <a:spAutoFit/>
          </a:bodyPr>
          <a:lstStyle/>
          <a:p>
            <a:pPr algn="l">
              <a:lnSpc>
                <a:spcPts val="3900"/>
              </a:lnSpc>
            </a:pPr>
            <a:r>
              <a:rPr sz="2800" b="1" i="0">
                <a:solidFill>
                  <a:srgbClr val="1B2A4A"/>
                </a:solidFill>
                <a:latin typeface="Calibri"/>
              </a:rPr>
              <a:t>Identification des types de nœuds</a:t>
            </a:r>
          </a:p>
        </p:txBody>
      </p:sp>
      <p:sp>
        <p:nvSpPr>
          <p:cNvPr id="9" name="TextBox 8"/>
          <p:cNvSpPr txBox="1"/>
          <p:nvPr/>
        </p:nvSpPr>
        <p:spPr>
          <a:xfrm>
            <a:off x="731520" y="1691640"/>
            <a:ext cx="10515600" cy="320040"/>
          </a:xfrm>
          <a:prstGeom prst="rect">
            <a:avLst/>
          </a:prstGeom>
          <a:noFill/>
        </p:spPr>
        <p:txBody>
          <a:bodyPr wrap="square">
            <a:spAutoFit/>
          </a:bodyPr>
          <a:lstStyle/>
          <a:p>
            <a:pPr algn="l">
              <a:lnSpc>
                <a:spcPts val="1800"/>
              </a:lnSpc>
            </a:pPr>
            <a:r>
              <a:rPr sz="1300" b="0" i="1">
                <a:solidFill>
                  <a:srgbClr val="555555"/>
                </a:solidFill>
                <a:latin typeface="Calibri"/>
              </a:rPr>
              <a:t>Nom, signification et quelques attributs possibles</a:t>
            </a:r>
          </a:p>
        </p:txBody>
      </p:sp>
      <p:graphicFrame>
        <p:nvGraphicFramePr>
          <p:cNvPr id="10" name="Table 9"/>
          <p:cNvGraphicFramePr>
            <a:graphicFrameLocks noGrp="1"/>
          </p:cNvGraphicFramePr>
          <p:nvPr>
            <p:extLst>
              <p:ext uri="{D42A27DB-BD31-4B8C-83A1-F6EECF244321}">
                <p14:modId xmlns:p14="http://schemas.microsoft.com/office/powerpoint/2010/main" val="1571444210"/>
              </p:ext>
            </p:extLst>
          </p:nvPr>
        </p:nvGraphicFramePr>
        <p:xfrm>
          <a:off x="731520" y="2103120"/>
          <a:ext cx="10698480" cy="42062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382385">
                <a:tc>
                  <a:txBody>
                    <a:bodyPr/>
                    <a:lstStyle/>
                    <a:p>
                      <a:pPr algn="ctr">
                        <a:spcBef>
                          <a:spcPts val="200"/>
                        </a:spcBef>
                        <a:spcAft>
                          <a:spcPts val="200"/>
                        </a:spcAft>
                      </a:pPr>
                      <a:r>
                        <a:rPr sz="1300" b="1">
                          <a:solidFill>
                            <a:srgbClr val="FFFFFF"/>
                          </a:solidFill>
                          <a:latin typeface="Calibri"/>
                        </a:rPr>
                        <a:t>Nœud</a:t>
                      </a:r>
                    </a:p>
                  </a:txBody>
                  <a:tcPr marL="73152" marR="73152" marT="36576" marB="36576" anchor="ctr">
                    <a:solidFill>
                      <a:srgbClr val="1B2A4A"/>
                    </a:solidFill>
                  </a:tcPr>
                </a:tc>
                <a:tc>
                  <a:txBody>
                    <a:bodyPr/>
                    <a:lstStyle/>
                    <a:p>
                      <a:pPr algn="ctr">
                        <a:spcBef>
                          <a:spcPts val="200"/>
                        </a:spcBef>
                        <a:spcAft>
                          <a:spcPts val="200"/>
                        </a:spcAft>
                      </a:pPr>
                      <a:r>
                        <a:rPr sz="1300" b="1">
                          <a:solidFill>
                            <a:srgbClr val="FFFFFF"/>
                          </a:solidFill>
                          <a:latin typeface="Calibri"/>
                        </a:rPr>
                        <a:t>Signification</a:t>
                      </a:r>
                    </a:p>
                  </a:txBody>
                  <a:tcPr marL="73152" marR="73152" marT="36576" marB="36576" anchor="ctr">
                    <a:solidFill>
                      <a:srgbClr val="1B2A4A"/>
                    </a:solidFill>
                  </a:tcPr>
                </a:tc>
                <a:tc>
                  <a:txBody>
                    <a:bodyPr/>
                    <a:lstStyle/>
                    <a:p>
                      <a:pPr algn="ctr">
                        <a:spcBef>
                          <a:spcPts val="200"/>
                        </a:spcBef>
                        <a:spcAft>
                          <a:spcPts val="200"/>
                        </a:spcAft>
                      </a:pPr>
                      <a:r>
                        <a:rPr sz="1300" b="1">
                          <a:solidFill>
                            <a:srgbClr val="FFFFFF"/>
                          </a:solidFill>
                          <a:latin typeface="Calibri"/>
                        </a:rPr>
                        <a:t>Attributs possibles</a:t>
                      </a:r>
                    </a:p>
                  </a:txBody>
                  <a:tcPr marL="73152" marR="73152" marT="36576" marB="36576" anchor="ctr">
                    <a:solidFill>
                      <a:srgbClr val="1B2A4A"/>
                    </a:solidFill>
                  </a:tcPr>
                </a:tc>
                <a:extLst>
                  <a:ext uri="{0D108BD9-81ED-4DB2-BD59-A6C34878D82A}">
                    <a16:rowId xmlns:a16="http://schemas.microsoft.com/office/drawing/2014/main" val="10000"/>
                  </a:ext>
                </a:extLst>
              </a:tr>
              <a:tr h="382385">
                <a:tc>
                  <a:txBody>
                    <a:bodyPr/>
                    <a:lstStyle/>
                    <a:p>
                      <a:pPr algn="l">
                        <a:spcBef>
                          <a:spcPts val="200"/>
                        </a:spcBef>
                        <a:spcAft>
                          <a:spcPts val="200"/>
                        </a:spcAft>
                      </a:pPr>
                      <a:r>
                        <a:rPr lang="fr-FR" sz="1200" b="1" dirty="0">
                          <a:solidFill>
                            <a:srgbClr val="2D2D2D"/>
                          </a:solidFill>
                          <a:latin typeface="Calibri"/>
                        </a:rPr>
                        <a:t>Habitant</a:t>
                      </a:r>
                      <a:endParaRPr sz="1200" b="1" dirty="0">
                        <a:solidFill>
                          <a:srgbClr val="2D2D2D"/>
                        </a:solidFill>
                        <a:latin typeface="Calibri"/>
                      </a:endParaRP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lang="fr-FR" sz="1200" b="0" dirty="0">
                          <a:solidFill>
                            <a:srgbClr val="2D2D2D"/>
                          </a:solidFill>
                          <a:latin typeface="Calibri"/>
                        </a:rPr>
                        <a:t>Personne vivant dans le quartier</a:t>
                      </a:r>
                      <a:endParaRPr sz="1200" b="0" dirty="0">
                        <a:solidFill>
                          <a:srgbClr val="2D2D2D"/>
                        </a:solidFill>
                        <a:latin typeface="Calibri"/>
                      </a:endParaRP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lang="fr-FR" sz="1200" b="0" dirty="0">
                          <a:solidFill>
                            <a:srgbClr val="2D2D2D"/>
                          </a:solidFill>
                          <a:latin typeface="Calibri"/>
                        </a:rPr>
                        <a:t>Nom, âge, sexe, profession</a:t>
                      </a:r>
                      <a:endParaRPr sz="1200" b="0" dirty="0">
                        <a:solidFill>
                          <a:srgbClr val="2D2D2D"/>
                        </a:solidFill>
                        <a:latin typeface="Calibri"/>
                      </a:endParaRPr>
                    </a:p>
                  </a:txBody>
                  <a:tcPr marL="73152" marR="73152" marT="36576" marB="36576" anchor="ctr">
                    <a:lnL w="0" cap="flat" cmpd="sng" algn="ctr"/>
                    <a:lnR w="0" cap="flat" cmpd="sng" algn="ctr"/>
                    <a:lnB w="6350" cap="flat" cmpd="sng" algn="ctr">
                      <a:solidFill>
                        <a:srgbClr val="1B2A4A"/>
                      </a:solidFill>
                    </a:lnB>
                  </a:tcPr>
                </a:tc>
                <a:extLst>
                  <a:ext uri="{0D108BD9-81ED-4DB2-BD59-A6C34878D82A}">
                    <a16:rowId xmlns:a16="http://schemas.microsoft.com/office/drawing/2014/main" val="10001"/>
                  </a:ext>
                </a:extLst>
              </a:tr>
              <a:tr h="382385">
                <a:tc>
                  <a:txBody>
                    <a:bodyPr/>
                    <a:lstStyle/>
                    <a:p>
                      <a:pPr algn="l">
                        <a:spcBef>
                          <a:spcPts val="200"/>
                        </a:spcBef>
                        <a:spcAft>
                          <a:spcPts val="200"/>
                        </a:spcAft>
                      </a:pPr>
                      <a:r>
                        <a:rPr sz="1200" b="1">
                          <a:solidFill>
                            <a:srgbClr val="2D2D2D"/>
                          </a:solidFill>
                          <a:latin typeface="Calibri"/>
                        </a:rPr>
                        <a:t>Enfant</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dirty="0">
                          <a:solidFill>
                            <a:srgbClr val="2D2D2D"/>
                          </a:solidFill>
                          <a:latin typeface="Calibri"/>
                        </a:rPr>
                        <a:t>Habitant de </a:t>
                      </a:r>
                      <a:r>
                        <a:rPr sz="1200" b="0" dirty="0" err="1">
                          <a:solidFill>
                            <a:srgbClr val="2D2D2D"/>
                          </a:solidFill>
                          <a:latin typeface="Calibri"/>
                        </a:rPr>
                        <a:t>moins</a:t>
                      </a:r>
                      <a:r>
                        <a:rPr sz="1200" b="0" dirty="0">
                          <a:solidFill>
                            <a:srgbClr val="2D2D2D"/>
                          </a:solidFill>
                          <a:latin typeface="Calibri"/>
                        </a:rPr>
                        <a:t> de 18 </a:t>
                      </a:r>
                      <a:r>
                        <a:rPr sz="1200" b="0" dirty="0" err="1">
                          <a:solidFill>
                            <a:srgbClr val="2D2D2D"/>
                          </a:solidFill>
                          <a:latin typeface="Calibri"/>
                        </a:rPr>
                        <a:t>ans</a:t>
                      </a:r>
                      <a:endParaRPr sz="1200" b="0" dirty="0">
                        <a:solidFill>
                          <a:srgbClr val="2D2D2D"/>
                        </a:solidFill>
                        <a:latin typeface="Calibri"/>
                      </a:endParaRP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Nom, âge, école</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extLst>
                  <a:ext uri="{0D108BD9-81ED-4DB2-BD59-A6C34878D82A}">
                    <a16:rowId xmlns:a16="http://schemas.microsoft.com/office/drawing/2014/main" val="10002"/>
                  </a:ext>
                </a:extLst>
              </a:tr>
              <a:tr h="382385">
                <a:tc>
                  <a:txBody>
                    <a:bodyPr/>
                    <a:lstStyle/>
                    <a:p>
                      <a:pPr algn="l">
                        <a:spcBef>
                          <a:spcPts val="200"/>
                        </a:spcBef>
                        <a:spcAft>
                          <a:spcPts val="200"/>
                        </a:spcAft>
                      </a:pPr>
                      <a:r>
                        <a:rPr sz="1200" b="1">
                          <a:solidFill>
                            <a:srgbClr val="2D2D2D"/>
                          </a:solidFill>
                          <a:latin typeface="Calibri"/>
                        </a:rPr>
                        <a:t>Adolescent</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Jeune du quartier</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Nom, âge, établissement scolaire</a:t>
                      </a:r>
                    </a:p>
                  </a:txBody>
                  <a:tcPr marL="73152" marR="73152" marT="36576" marB="36576" anchor="ctr">
                    <a:lnL w="0" cap="flat" cmpd="sng" algn="ctr"/>
                    <a:lnR w="0" cap="flat" cmpd="sng" algn="ctr"/>
                    <a:lnB w="6350" cap="flat" cmpd="sng" algn="ctr">
                      <a:solidFill>
                        <a:srgbClr val="1B2A4A"/>
                      </a:solidFill>
                    </a:lnB>
                  </a:tcPr>
                </a:tc>
                <a:extLst>
                  <a:ext uri="{0D108BD9-81ED-4DB2-BD59-A6C34878D82A}">
                    <a16:rowId xmlns:a16="http://schemas.microsoft.com/office/drawing/2014/main" val="10003"/>
                  </a:ext>
                </a:extLst>
              </a:tr>
              <a:tr h="382385">
                <a:tc>
                  <a:txBody>
                    <a:bodyPr/>
                    <a:lstStyle/>
                    <a:p>
                      <a:pPr algn="l">
                        <a:spcBef>
                          <a:spcPts val="200"/>
                        </a:spcBef>
                        <a:spcAft>
                          <a:spcPts val="200"/>
                        </a:spcAft>
                      </a:pPr>
                      <a:r>
                        <a:rPr sz="1200" b="1">
                          <a:solidFill>
                            <a:srgbClr val="2D2D2D"/>
                          </a:solidFill>
                          <a:latin typeface="Calibri"/>
                        </a:rPr>
                        <a:t>Adulte</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Personne majeure</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Nom, profession</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extLst>
                  <a:ext uri="{0D108BD9-81ED-4DB2-BD59-A6C34878D82A}">
                    <a16:rowId xmlns:a16="http://schemas.microsoft.com/office/drawing/2014/main" val="10004"/>
                  </a:ext>
                </a:extLst>
              </a:tr>
              <a:tr h="382385">
                <a:tc>
                  <a:txBody>
                    <a:bodyPr/>
                    <a:lstStyle/>
                    <a:p>
                      <a:pPr algn="l">
                        <a:spcBef>
                          <a:spcPts val="200"/>
                        </a:spcBef>
                        <a:spcAft>
                          <a:spcPts val="200"/>
                        </a:spcAft>
                      </a:pPr>
                      <a:r>
                        <a:rPr sz="1200" b="1">
                          <a:solidFill>
                            <a:srgbClr val="2D2D2D"/>
                          </a:solidFill>
                          <a:latin typeface="Calibri"/>
                        </a:rPr>
                        <a:t>Personne âgée</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Habitant âgé</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Nom, âge</a:t>
                      </a:r>
                    </a:p>
                  </a:txBody>
                  <a:tcPr marL="73152" marR="73152" marT="36576" marB="36576" anchor="ctr">
                    <a:lnL w="0" cap="flat" cmpd="sng" algn="ctr"/>
                    <a:lnR w="0" cap="flat" cmpd="sng" algn="ctr"/>
                    <a:lnB w="6350" cap="flat" cmpd="sng" algn="ctr">
                      <a:solidFill>
                        <a:srgbClr val="1B2A4A"/>
                      </a:solidFill>
                    </a:lnB>
                  </a:tcPr>
                </a:tc>
                <a:extLst>
                  <a:ext uri="{0D108BD9-81ED-4DB2-BD59-A6C34878D82A}">
                    <a16:rowId xmlns:a16="http://schemas.microsoft.com/office/drawing/2014/main" val="10005"/>
                  </a:ext>
                </a:extLst>
              </a:tr>
              <a:tr h="382385">
                <a:tc>
                  <a:txBody>
                    <a:bodyPr/>
                    <a:lstStyle/>
                    <a:p>
                      <a:pPr algn="l">
                        <a:spcBef>
                          <a:spcPts val="200"/>
                        </a:spcBef>
                        <a:spcAft>
                          <a:spcPts val="200"/>
                        </a:spcAft>
                      </a:pPr>
                      <a:r>
                        <a:rPr sz="1200" b="1">
                          <a:solidFill>
                            <a:srgbClr val="2D2D2D"/>
                          </a:solidFill>
                          <a:latin typeface="Calibri"/>
                        </a:rPr>
                        <a:t>Maison</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Lieu d'habitation</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Numéro, adresse</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extLst>
                  <a:ext uri="{0D108BD9-81ED-4DB2-BD59-A6C34878D82A}">
                    <a16:rowId xmlns:a16="http://schemas.microsoft.com/office/drawing/2014/main" val="10006"/>
                  </a:ext>
                </a:extLst>
              </a:tr>
              <a:tr h="382385">
                <a:tc>
                  <a:txBody>
                    <a:bodyPr/>
                    <a:lstStyle/>
                    <a:p>
                      <a:pPr algn="l">
                        <a:spcBef>
                          <a:spcPts val="200"/>
                        </a:spcBef>
                        <a:spcAft>
                          <a:spcPts val="200"/>
                        </a:spcAft>
                      </a:pPr>
                      <a:r>
                        <a:rPr sz="1200" b="1">
                          <a:solidFill>
                            <a:srgbClr val="2D2D2D"/>
                          </a:solidFill>
                          <a:latin typeface="Calibri"/>
                        </a:rPr>
                        <a:t>Ecole</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Etablissement scolaire</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Nom, type</a:t>
                      </a:r>
                    </a:p>
                  </a:txBody>
                  <a:tcPr marL="73152" marR="73152" marT="36576" marB="36576" anchor="ctr">
                    <a:lnL w="0" cap="flat" cmpd="sng" algn="ctr"/>
                    <a:lnR w="0" cap="flat" cmpd="sng" algn="ctr"/>
                    <a:lnB w="6350" cap="flat" cmpd="sng" algn="ctr">
                      <a:solidFill>
                        <a:srgbClr val="1B2A4A"/>
                      </a:solidFill>
                    </a:lnB>
                  </a:tcPr>
                </a:tc>
                <a:extLst>
                  <a:ext uri="{0D108BD9-81ED-4DB2-BD59-A6C34878D82A}">
                    <a16:rowId xmlns:a16="http://schemas.microsoft.com/office/drawing/2014/main" val="10007"/>
                  </a:ext>
                </a:extLst>
              </a:tr>
              <a:tr h="382385">
                <a:tc>
                  <a:txBody>
                    <a:bodyPr/>
                    <a:lstStyle/>
                    <a:p>
                      <a:pPr algn="l">
                        <a:spcBef>
                          <a:spcPts val="200"/>
                        </a:spcBef>
                        <a:spcAft>
                          <a:spcPts val="200"/>
                        </a:spcAft>
                      </a:pPr>
                      <a:r>
                        <a:rPr sz="1200" b="1">
                          <a:solidFill>
                            <a:srgbClr val="2D2D2D"/>
                          </a:solidFill>
                          <a:latin typeface="Calibri"/>
                        </a:rPr>
                        <a:t>Commerce</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Boutique ou magasin</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Nom, activité</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extLst>
                  <a:ext uri="{0D108BD9-81ED-4DB2-BD59-A6C34878D82A}">
                    <a16:rowId xmlns:a16="http://schemas.microsoft.com/office/drawing/2014/main" val="10008"/>
                  </a:ext>
                </a:extLst>
              </a:tr>
              <a:tr h="382385">
                <a:tc>
                  <a:txBody>
                    <a:bodyPr/>
                    <a:lstStyle/>
                    <a:p>
                      <a:pPr algn="l">
                        <a:spcBef>
                          <a:spcPts val="200"/>
                        </a:spcBef>
                        <a:spcAft>
                          <a:spcPts val="200"/>
                        </a:spcAft>
                      </a:pPr>
                      <a:r>
                        <a:rPr sz="1200" b="1">
                          <a:solidFill>
                            <a:srgbClr val="2D2D2D"/>
                          </a:solidFill>
                          <a:latin typeface="Calibri"/>
                        </a:rPr>
                        <a:t>Centre de santé</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Lieu de soins</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Nom, type</a:t>
                      </a:r>
                    </a:p>
                  </a:txBody>
                  <a:tcPr marL="73152" marR="73152" marT="36576" marB="36576" anchor="ctr">
                    <a:lnL w="0" cap="flat" cmpd="sng" algn="ctr"/>
                    <a:lnR w="0" cap="flat" cmpd="sng" algn="ctr"/>
                    <a:lnB w="6350" cap="flat" cmpd="sng" algn="ctr">
                      <a:solidFill>
                        <a:srgbClr val="1B2A4A"/>
                      </a:solidFill>
                    </a:lnB>
                  </a:tcPr>
                </a:tc>
                <a:extLst>
                  <a:ext uri="{0D108BD9-81ED-4DB2-BD59-A6C34878D82A}">
                    <a16:rowId xmlns:a16="http://schemas.microsoft.com/office/drawing/2014/main" val="10009"/>
                  </a:ext>
                </a:extLst>
              </a:tr>
              <a:tr h="382390">
                <a:tc>
                  <a:txBody>
                    <a:bodyPr/>
                    <a:lstStyle/>
                    <a:p>
                      <a:pPr algn="l">
                        <a:spcBef>
                          <a:spcPts val="200"/>
                        </a:spcBef>
                        <a:spcAft>
                          <a:spcPts val="200"/>
                        </a:spcAft>
                      </a:pPr>
                      <a:r>
                        <a:rPr sz="1200" b="1">
                          <a:solidFill>
                            <a:srgbClr val="2D2D2D"/>
                          </a:solidFill>
                          <a:latin typeface="Calibri"/>
                        </a:rPr>
                        <a:t>Route</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Voie de circulation</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dirty="0">
                          <a:solidFill>
                            <a:srgbClr val="2D2D2D"/>
                          </a:solidFill>
                          <a:latin typeface="Calibri"/>
                        </a:rPr>
                        <a:t>Nom, longueur</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576"/>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91695" cy="3657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537960"/>
            <a:ext cx="10972800" cy="274320"/>
          </a:xfrm>
          <a:prstGeom prst="rect">
            <a:avLst/>
          </a:prstGeom>
          <a:noFill/>
        </p:spPr>
        <p:txBody>
          <a:bodyPr wrap="none">
            <a:spAutoFit/>
          </a:bodyPr>
          <a:lstStyle/>
          <a:p>
            <a:pPr algn="l"/>
            <a:r>
              <a:rPr sz="900">
                <a:solidFill>
                  <a:srgbClr val="90A8C4"/>
                </a:solidFill>
                <a:latin typeface="Calibri"/>
              </a:rPr>
              <a:t>Graphe de connaissances : Modélisation d'un quartier</a:t>
            </a:r>
          </a:p>
        </p:txBody>
      </p:sp>
      <p:sp>
        <p:nvSpPr>
          <p:cNvPr id="6" name="TextBox 5"/>
          <p:cNvSpPr txBox="1"/>
          <p:nvPr/>
        </p:nvSpPr>
        <p:spPr>
          <a:xfrm>
            <a:off x="10515600" y="6537960"/>
            <a:ext cx="1371600" cy="274320"/>
          </a:xfrm>
          <a:prstGeom prst="rect">
            <a:avLst/>
          </a:prstGeom>
          <a:noFill/>
        </p:spPr>
        <p:txBody>
          <a:bodyPr wrap="none">
            <a:spAutoFit/>
          </a:bodyPr>
          <a:lstStyle/>
          <a:p>
            <a:pPr algn="r"/>
            <a:r>
              <a:rPr sz="900">
                <a:solidFill>
                  <a:srgbClr val="90A8C4"/>
                </a:solidFill>
                <a:latin typeface="Calibri"/>
              </a:rPr>
              <a:t>4 / 13</a:t>
            </a:r>
          </a:p>
        </p:txBody>
      </p:sp>
      <p:sp>
        <p:nvSpPr>
          <p:cNvPr id="7" name="Rounded Rectangle 6"/>
          <p:cNvSpPr/>
          <p:nvPr/>
        </p:nvSpPr>
        <p:spPr>
          <a:xfrm>
            <a:off x="731520" y="320040"/>
            <a:ext cx="1463040" cy="347472"/>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ÉTAPE 3</a:t>
            </a:r>
          </a:p>
        </p:txBody>
      </p:sp>
      <p:sp>
        <p:nvSpPr>
          <p:cNvPr id="8" name="TextBox 7"/>
          <p:cNvSpPr txBox="1"/>
          <p:nvPr/>
        </p:nvSpPr>
        <p:spPr>
          <a:xfrm>
            <a:off x="731520" y="777240"/>
            <a:ext cx="10698480" cy="731520"/>
          </a:xfrm>
          <a:prstGeom prst="rect">
            <a:avLst/>
          </a:prstGeom>
          <a:noFill/>
        </p:spPr>
        <p:txBody>
          <a:bodyPr wrap="square">
            <a:spAutoFit/>
          </a:bodyPr>
          <a:lstStyle/>
          <a:p>
            <a:pPr algn="l">
              <a:lnSpc>
                <a:spcPts val="3900"/>
              </a:lnSpc>
            </a:pPr>
            <a:r>
              <a:rPr sz="2800" b="1" i="0">
                <a:solidFill>
                  <a:srgbClr val="1B2A4A"/>
                </a:solidFill>
                <a:latin typeface="Calibri"/>
              </a:rPr>
              <a:t>Identification des questions de compétences (QC)</a:t>
            </a:r>
          </a:p>
        </p:txBody>
      </p:sp>
      <p:sp>
        <p:nvSpPr>
          <p:cNvPr id="9" name="Rectangle 8"/>
          <p:cNvSpPr/>
          <p:nvPr/>
        </p:nvSpPr>
        <p:spPr>
          <a:xfrm>
            <a:off x="0" y="1143000"/>
            <a:ext cx="109728" cy="502920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503040"/>
            <a:ext cx="10515600" cy="4572000"/>
          </a:xfrm>
          <a:prstGeom prst="rect">
            <a:avLst/>
          </a:prstGeom>
          <a:noFill/>
        </p:spPr>
        <p:txBody>
          <a:bodyPr wrap="square">
            <a:spAutoFit/>
          </a:bodyPr>
          <a:lstStyle/>
          <a:p>
            <a:pPr algn="l">
              <a:lnSpc>
                <a:spcPts val="2100"/>
              </a:lnSpc>
              <a:spcAft>
                <a:spcPts val="500"/>
              </a:spcAft>
            </a:pPr>
            <a:r>
              <a:rPr sz="1400" b="1" dirty="0">
                <a:solidFill>
                  <a:srgbClr val="C49A1C"/>
                </a:solidFill>
                <a:latin typeface="Calibri"/>
              </a:rPr>
              <a:t>▸  </a:t>
            </a:r>
            <a:r>
              <a:rPr sz="1400" dirty="0">
                <a:solidFill>
                  <a:srgbClr val="2D2D2D"/>
                </a:solidFill>
                <a:latin typeface="Calibri"/>
              </a:rPr>
              <a:t>Quels habitants </a:t>
            </a:r>
            <a:r>
              <a:rPr sz="1400" dirty="0" err="1">
                <a:solidFill>
                  <a:srgbClr val="2D2D2D"/>
                </a:solidFill>
                <a:latin typeface="Calibri"/>
              </a:rPr>
              <a:t>vivent</a:t>
            </a:r>
            <a:r>
              <a:rPr sz="1400" dirty="0">
                <a:solidFill>
                  <a:srgbClr val="2D2D2D"/>
                </a:solidFill>
                <a:latin typeface="Calibri"/>
              </a:rPr>
              <a:t> dans </a:t>
            </a:r>
            <a:r>
              <a:rPr sz="1400" dirty="0" err="1">
                <a:solidFill>
                  <a:srgbClr val="2D2D2D"/>
                </a:solidFill>
                <a:latin typeface="Calibri"/>
              </a:rPr>
              <a:t>une</a:t>
            </a:r>
            <a:r>
              <a:rPr sz="1400" dirty="0">
                <a:solidFill>
                  <a:srgbClr val="2D2D2D"/>
                </a:solidFill>
                <a:latin typeface="Calibri"/>
              </a:rPr>
              <a:t> maison </a:t>
            </a:r>
            <a:r>
              <a:rPr sz="1400" dirty="0" err="1">
                <a:solidFill>
                  <a:srgbClr val="2D2D2D"/>
                </a:solidFill>
                <a:latin typeface="Calibri"/>
              </a:rPr>
              <a:t>dont</a:t>
            </a:r>
            <a:r>
              <a:rPr sz="1400" dirty="0">
                <a:solidFill>
                  <a:srgbClr val="2D2D2D"/>
                </a:solidFill>
                <a:latin typeface="Calibri"/>
              </a:rPr>
              <a:t> au </a:t>
            </a:r>
            <a:r>
              <a:rPr sz="1400" dirty="0" err="1">
                <a:solidFill>
                  <a:srgbClr val="2D2D2D"/>
                </a:solidFill>
                <a:latin typeface="Calibri"/>
              </a:rPr>
              <a:t>moins</a:t>
            </a:r>
            <a:r>
              <a:rPr sz="1400" dirty="0">
                <a:solidFill>
                  <a:srgbClr val="2D2D2D"/>
                </a:solidFill>
                <a:latin typeface="Calibri"/>
              </a:rPr>
              <a:t> un enfant </a:t>
            </a:r>
            <a:r>
              <a:rPr sz="1400" dirty="0" err="1">
                <a:solidFill>
                  <a:srgbClr val="2D2D2D"/>
                </a:solidFill>
                <a:latin typeface="Calibri"/>
              </a:rPr>
              <a:t>fréquent</a:t>
            </a:r>
            <a:r>
              <a:rPr sz="1400" dirty="0">
                <a:solidFill>
                  <a:srgbClr val="2D2D2D"/>
                </a:solidFill>
                <a:latin typeface="Calibri"/>
              </a:rPr>
              <a:t> </a:t>
            </a:r>
            <a:r>
              <a:rPr sz="1400" dirty="0" err="1">
                <a:solidFill>
                  <a:srgbClr val="2D2D2D"/>
                </a:solidFill>
                <a:latin typeface="Calibri"/>
              </a:rPr>
              <a:t>l'École</a:t>
            </a:r>
            <a:r>
              <a:rPr sz="1400" dirty="0">
                <a:solidFill>
                  <a:srgbClr val="2D2D2D"/>
                </a:solidFill>
                <a:latin typeface="Calibri"/>
              </a:rPr>
              <a:t> </a:t>
            </a:r>
            <a:r>
              <a:rPr sz="1400" dirty="0" err="1">
                <a:solidFill>
                  <a:srgbClr val="2D2D2D"/>
                </a:solidFill>
                <a:latin typeface="Calibri"/>
              </a:rPr>
              <a:t>primaire</a:t>
            </a:r>
            <a:r>
              <a:rPr sz="1400" dirty="0">
                <a:solidFill>
                  <a:srgbClr val="2D2D2D"/>
                </a:solidFill>
                <a:latin typeface="Calibri"/>
              </a:rPr>
              <a:t> du quartier ?</a:t>
            </a:r>
          </a:p>
          <a:p>
            <a:pPr algn="l">
              <a:lnSpc>
                <a:spcPts val="2100"/>
              </a:lnSpc>
              <a:spcAft>
                <a:spcPts val="500"/>
              </a:spcAft>
            </a:pPr>
            <a:r>
              <a:rPr sz="1400" b="1" dirty="0">
                <a:solidFill>
                  <a:srgbClr val="C49A1C"/>
                </a:solidFill>
                <a:latin typeface="Calibri"/>
              </a:rPr>
              <a:t>▸  </a:t>
            </a:r>
            <a:r>
              <a:rPr sz="1400" dirty="0">
                <a:solidFill>
                  <a:srgbClr val="2D2D2D"/>
                </a:solidFill>
                <a:latin typeface="Calibri"/>
              </a:rPr>
              <a:t>Quels </a:t>
            </a:r>
            <a:r>
              <a:rPr sz="1400" dirty="0" err="1">
                <a:solidFill>
                  <a:srgbClr val="2D2D2D"/>
                </a:solidFill>
                <a:latin typeface="Calibri"/>
              </a:rPr>
              <a:t>commerces</a:t>
            </a:r>
            <a:r>
              <a:rPr sz="1400" dirty="0">
                <a:solidFill>
                  <a:srgbClr val="2D2D2D"/>
                </a:solidFill>
                <a:latin typeface="Calibri"/>
              </a:rPr>
              <a:t> </a:t>
            </a:r>
            <a:r>
              <a:rPr sz="1400" dirty="0" err="1">
                <a:solidFill>
                  <a:srgbClr val="2D2D2D"/>
                </a:solidFill>
                <a:latin typeface="Calibri"/>
              </a:rPr>
              <a:t>sont</a:t>
            </a:r>
            <a:r>
              <a:rPr sz="1400" dirty="0">
                <a:solidFill>
                  <a:srgbClr val="2D2D2D"/>
                </a:solidFill>
                <a:latin typeface="Calibri"/>
              </a:rPr>
              <a:t> </a:t>
            </a:r>
            <a:r>
              <a:rPr sz="1400" dirty="0" err="1">
                <a:solidFill>
                  <a:srgbClr val="2D2D2D"/>
                </a:solidFill>
                <a:latin typeface="Calibri"/>
              </a:rPr>
              <a:t>accessibles</a:t>
            </a:r>
            <a:r>
              <a:rPr sz="1400" dirty="0">
                <a:solidFill>
                  <a:srgbClr val="2D2D2D"/>
                </a:solidFill>
                <a:latin typeface="Calibri"/>
              </a:rPr>
              <a:t> aux habitants qui </a:t>
            </a:r>
            <a:r>
              <a:rPr sz="1400" dirty="0" err="1">
                <a:solidFill>
                  <a:srgbClr val="2D2D2D"/>
                </a:solidFill>
                <a:latin typeface="Calibri"/>
              </a:rPr>
              <a:t>résident</a:t>
            </a:r>
            <a:r>
              <a:rPr sz="1400" dirty="0">
                <a:solidFill>
                  <a:srgbClr val="2D2D2D"/>
                </a:solidFill>
                <a:latin typeface="Calibri"/>
              </a:rPr>
              <a:t> sur la </a:t>
            </a:r>
            <a:r>
              <a:rPr sz="1400" dirty="0" err="1">
                <a:solidFill>
                  <a:srgbClr val="2D2D2D"/>
                </a:solidFill>
                <a:latin typeface="Calibri"/>
              </a:rPr>
              <a:t>même</a:t>
            </a:r>
            <a:r>
              <a:rPr sz="1400" dirty="0">
                <a:solidFill>
                  <a:srgbClr val="2D2D2D"/>
                </a:solidFill>
                <a:latin typeface="Calibri"/>
              </a:rPr>
              <a:t> route </a:t>
            </a:r>
            <a:r>
              <a:rPr sz="1400" dirty="0" err="1">
                <a:solidFill>
                  <a:srgbClr val="2D2D2D"/>
                </a:solidFill>
                <a:latin typeface="Calibri"/>
              </a:rPr>
              <a:t>qu'un</a:t>
            </a:r>
            <a:r>
              <a:rPr sz="1400" dirty="0">
                <a:solidFill>
                  <a:srgbClr val="2D2D2D"/>
                </a:solidFill>
                <a:latin typeface="Calibri"/>
              </a:rPr>
              <a:t> </a:t>
            </a:r>
            <a:r>
              <a:rPr sz="1400" dirty="0" err="1">
                <a:solidFill>
                  <a:srgbClr val="2D2D2D"/>
                </a:solidFill>
                <a:latin typeface="Calibri"/>
              </a:rPr>
              <a:t>centre</a:t>
            </a:r>
            <a:r>
              <a:rPr sz="1400" dirty="0">
                <a:solidFill>
                  <a:srgbClr val="2D2D2D"/>
                </a:solidFill>
                <a:latin typeface="Calibri"/>
              </a:rPr>
              <a:t> de santé ?</a:t>
            </a:r>
          </a:p>
          <a:p>
            <a:pPr algn="l">
              <a:lnSpc>
                <a:spcPts val="2100"/>
              </a:lnSpc>
              <a:spcAft>
                <a:spcPts val="500"/>
              </a:spcAft>
            </a:pPr>
            <a:r>
              <a:rPr sz="1400" b="1" dirty="0">
                <a:solidFill>
                  <a:srgbClr val="C49A1C"/>
                </a:solidFill>
                <a:latin typeface="Calibri"/>
              </a:rPr>
              <a:t>▸  </a:t>
            </a:r>
            <a:r>
              <a:rPr sz="1400" dirty="0">
                <a:solidFill>
                  <a:srgbClr val="2D2D2D"/>
                </a:solidFill>
                <a:latin typeface="Calibri"/>
              </a:rPr>
              <a:t>Quels habitants </a:t>
            </a:r>
            <a:r>
              <a:rPr sz="1400" dirty="0" err="1">
                <a:solidFill>
                  <a:srgbClr val="2D2D2D"/>
                </a:solidFill>
                <a:latin typeface="Calibri"/>
              </a:rPr>
              <a:t>peuvent</a:t>
            </a:r>
            <a:r>
              <a:rPr sz="1400" dirty="0">
                <a:solidFill>
                  <a:srgbClr val="2D2D2D"/>
                </a:solidFill>
                <a:latin typeface="Calibri"/>
              </a:rPr>
              <a:t> </a:t>
            </a:r>
            <a:r>
              <a:rPr sz="1400" dirty="0" err="1">
                <a:solidFill>
                  <a:srgbClr val="2D2D2D"/>
                </a:solidFill>
                <a:latin typeface="Calibri"/>
              </a:rPr>
              <a:t>être</a:t>
            </a:r>
            <a:r>
              <a:rPr sz="1400" dirty="0">
                <a:solidFill>
                  <a:srgbClr val="2D2D2D"/>
                </a:solidFill>
                <a:latin typeface="Calibri"/>
              </a:rPr>
              <a:t> </a:t>
            </a:r>
            <a:r>
              <a:rPr sz="1400" dirty="0" err="1">
                <a:solidFill>
                  <a:srgbClr val="2D2D2D"/>
                </a:solidFill>
                <a:latin typeface="Calibri"/>
              </a:rPr>
              <a:t>reliés</a:t>
            </a:r>
            <a:r>
              <a:rPr sz="1400" dirty="0">
                <a:solidFill>
                  <a:srgbClr val="2D2D2D"/>
                </a:solidFill>
                <a:latin typeface="Calibri"/>
              </a:rPr>
              <a:t> entre </a:t>
            </a:r>
            <a:r>
              <a:rPr sz="1400" dirty="0" err="1">
                <a:solidFill>
                  <a:srgbClr val="2D2D2D"/>
                </a:solidFill>
                <a:latin typeface="Calibri"/>
              </a:rPr>
              <a:t>eux</a:t>
            </a:r>
            <a:r>
              <a:rPr sz="1400" dirty="0">
                <a:solidFill>
                  <a:srgbClr val="2D2D2D"/>
                </a:solidFill>
                <a:latin typeface="Calibri"/>
              </a:rPr>
              <a:t> </a:t>
            </a:r>
            <a:r>
              <a:rPr sz="1400" dirty="0" err="1">
                <a:solidFill>
                  <a:srgbClr val="2D2D2D"/>
                </a:solidFill>
                <a:latin typeface="Calibri"/>
              </a:rPr>
              <a:t>parce</a:t>
            </a:r>
            <a:r>
              <a:rPr sz="1400" dirty="0">
                <a:solidFill>
                  <a:srgbClr val="2D2D2D"/>
                </a:solidFill>
                <a:latin typeface="Calibri"/>
              </a:rPr>
              <a:t> </a:t>
            </a:r>
            <a:r>
              <a:rPr sz="1400" dirty="0" err="1">
                <a:solidFill>
                  <a:srgbClr val="2D2D2D"/>
                </a:solidFill>
                <a:latin typeface="Calibri"/>
              </a:rPr>
              <a:t>qu'ils</a:t>
            </a:r>
            <a:r>
              <a:rPr sz="1400" dirty="0">
                <a:solidFill>
                  <a:srgbClr val="2D2D2D"/>
                </a:solidFill>
                <a:latin typeface="Calibri"/>
              </a:rPr>
              <a:t> </a:t>
            </a:r>
            <a:r>
              <a:rPr sz="1400" dirty="0" err="1">
                <a:solidFill>
                  <a:srgbClr val="2D2D2D"/>
                </a:solidFill>
                <a:latin typeface="Calibri"/>
              </a:rPr>
              <a:t>habitent</a:t>
            </a:r>
            <a:r>
              <a:rPr sz="1400" dirty="0">
                <a:solidFill>
                  <a:srgbClr val="2D2D2D"/>
                </a:solidFill>
                <a:latin typeface="Calibri"/>
              </a:rPr>
              <a:t> le </a:t>
            </a:r>
            <a:r>
              <a:rPr sz="1400" dirty="0" err="1">
                <a:solidFill>
                  <a:srgbClr val="2D2D2D"/>
                </a:solidFill>
                <a:latin typeface="Calibri"/>
              </a:rPr>
              <a:t>même</a:t>
            </a:r>
            <a:r>
              <a:rPr sz="1400" dirty="0">
                <a:solidFill>
                  <a:srgbClr val="2D2D2D"/>
                </a:solidFill>
                <a:latin typeface="Calibri"/>
              </a:rPr>
              <a:t> quartier, </a:t>
            </a:r>
            <a:r>
              <a:rPr sz="1400" dirty="0" err="1">
                <a:solidFill>
                  <a:srgbClr val="2D2D2D"/>
                </a:solidFill>
                <a:latin typeface="Calibri"/>
              </a:rPr>
              <a:t>fréquentent</a:t>
            </a:r>
            <a:r>
              <a:rPr sz="1400" dirty="0">
                <a:solidFill>
                  <a:srgbClr val="2D2D2D"/>
                </a:solidFill>
                <a:latin typeface="Calibri"/>
              </a:rPr>
              <a:t> la </a:t>
            </a:r>
            <a:r>
              <a:rPr sz="1400" dirty="0" err="1">
                <a:solidFill>
                  <a:srgbClr val="2D2D2D"/>
                </a:solidFill>
                <a:latin typeface="Calibri"/>
              </a:rPr>
              <a:t>même</a:t>
            </a:r>
            <a:r>
              <a:rPr sz="1400" dirty="0">
                <a:solidFill>
                  <a:srgbClr val="2D2D2D"/>
                </a:solidFill>
                <a:latin typeface="Calibri"/>
              </a:rPr>
              <a:t> école </a:t>
            </a:r>
            <a:r>
              <a:rPr sz="1400" dirty="0" err="1">
                <a:solidFill>
                  <a:srgbClr val="2D2D2D"/>
                </a:solidFill>
                <a:latin typeface="Calibri"/>
              </a:rPr>
              <a:t>ou</a:t>
            </a:r>
            <a:r>
              <a:rPr sz="1400" dirty="0">
                <a:solidFill>
                  <a:srgbClr val="2D2D2D"/>
                </a:solidFill>
                <a:latin typeface="Calibri"/>
              </a:rPr>
              <a:t> </a:t>
            </a:r>
            <a:r>
              <a:rPr sz="1400" dirty="0" err="1">
                <a:solidFill>
                  <a:srgbClr val="2D2D2D"/>
                </a:solidFill>
                <a:latin typeface="Calibri"/>
              </a:rPr>
              <a:t>utilisent</a:t>
            </a:r>
            <a:r>
              <a:rPr sz="1400" dirty="0">
                <a:solidFill>
                  <a:srgbClr val="2D2D2D"/>
                </a:solidFill>
                <a:latin typeface="Calibri"/>
              </a:rPr>
              <a:t> le </a:t>
            </a:r>
            <a:r>
              <a:rPr sz="1400" dirty="0" err="1">
                <a:solidFill>
                  <a:srgbClr val="2D2D2D"/>
                </a:solidFill>
                <a:latin typeface="Calibri"/>
              </a:rPr>
              <a:t>même</a:t>
            </a:r>
            <a:r>
              <a:rPr sz="1400" dirty="0">
                <a:solidFill>
                  <a:srgbClr val="2D2D2D"/>
                </a:solidFill>
                <a:latin typeface="Calibri"/>
              </a:rPr>
              <a:t> </a:t>
            </a:r>
            <a:r>
              <a:rPr sz="1400" dirty="0" err="1">
                <a:solidFill>
                  <a:srgbClr val="2D2D2D"/>
                </a:solidFill>
                <a:latin typeface="Calibri"/>
              </a:rPr>
              <a:t>centre</a:t>
            </a:r>
            <a:r>
              <a:rPr sz="1400" dirty="0">
                <a:solidFill>
                  <a:srgbClr val="2D2D2D"/>
                </a:solidFill>
                <a:latin typeface="Calibri"/>
              </a:rPr>
              <a:t> de santé ?</a:t>
            </a:r>
          </a:p>
          <a:p>
            <a:pPr algn="l">
              <a:lnSpc>
                <a:spcPts val="2100"/>
              </a:lnSpc>
              <a:spcAft>
                <a:spcPts val="500"/>
              </a:spcAft>
            </a:pPr>
            <a:r>
              <a:rPr sz="1400" b="1" dirty="0">
                <a:solidFill>
                  <a:srgbClr val="C49A1C"/>
                </a:solidFill>
                <a:latin typeface="Calibri"/>
              </a:rPr>
              <a:t>▸  </a:t>
            </a:r>
            <a:r>
              <a:rPr sz="1400" dirty="0">
                <a:solidFill>
                  <a:srgbClr val="2D2D2D"/>
                </a:solidFill>
                <a:latin typeface="Calibri"/>
              </a:rPr>
              <a:t>Quels habitants </a:t>
            </a:r>
            <a:r>
              <a:rPr sz="1400" dirty="0" err="1">
                <a:solidFill>
                  <a:srgbClr val="2D2D2D"/>
                </a:solidFill>
                <a:latin typeface="Calibri"/>
              </a:rPr>
              <a:t>sont</a:t>
            </a:r>
            <a:r>
              <a:rPr sz="1400" dirty="0">
                <a:solidFill>
                  <a:srgbClr val="2D2D2D"/>
                </a:solidFill>
                <a:latin typeface="Calibri"/>
              </a:rPr>
              <a:t> </a:t>
            </a:r>
            <a:r>
              <a:rPr sz="1400" dirty="0" err="1">
                <a:solidFill>
                  <a:srgbClr val="2D2D2D"/>
                </a:solidFill>
                <a:latin typeface="Calibri"/>
              </a:rPr>
              <a:t>indirectement</a:t>
            </a:r>
            <a:r>
              <a:rPr sz="1400" dirty="0">
                <a:solidFill>
                  <a:srgbClr val="2D2D2D"/>
                </a:solidFill>
                <a:latin typeface="Calibri"/>
              </a:rPr>
              <a:t> </a:t>
            </a:r>
            <a:r>
              <a:rPr sz="1400" dirty="0" err="1">
                <a:solidFill>
                  <a:srgbClr val="2D2D2D"/>
                </a:solidFill>
                <a:latin typeface="Calibri"/>
              </a:rPr>
              <a:t>liés</a:t>
            </a:r>
            <a:r>
              <a:rPr sz="1400" dirty="0">
                <a:solidFill>
                  <a:srgbClr val="2D2D2D"/>
                </a:solidFill>
                <a:latin typeface="Calibri"/>
              </a:rPr>
              <a:t> à un commerce par </a:t>
            </a:r>
            <a:r>
              <a:rPr sz="1400" dirty="0" err="1">
                <a:solidFill>
                  <a:srgbClr val="2D2D2D"/>
                </a:solidFill>
                <a:latin typeface="Calibri"/>
              </a:rPr>
              <a:t>l'intermédiaire</a:t>
            </a:r>
            <a:r>
              <a:rPr sz="1400" dirty="0">
                <a:solidFill>
                  <a:srgbClr val="2D2D2D"/>
                </a:solidFill>
                <a:latin typeface="Calibri"/>
              </a:rPr>
              <a:t> de la route sur </a:t>
            </a:r>
            <a:r>
              <a:rPr sz="1400" dirty="0" err="1">
                <a:solidFill>
                  <a:srgbClr val="2D2D2D"/>
                </a:solidFill>
                <a:latin typeface="Calibri"/>
              </a:rPr>
              <a:t>laquelle</a:t>
            </a:r>
            <a:r>
              <a:rPr sz="1400" dirty="0">
                <a:solidFill>
                  <a:srgbClr val="2D2D2D"/>
                </a:solidFill>
                <a:latin typeface="Calibri"/>
              </a:rPr>
              <a:t> </a:t>
            </a:r>
            <a:r>
              <a:rPr sz="1400" dirty="0" err="1">
                <a:solidFill>
                  <a:srgbClr val="2D2D2D"/>
                </a:solidFill>
                <a:latin typeface="Calibri"/>
              </a:rPr>
              <a:t>ce</a:t>
            </a:r>
            <a:r>
              <a:rPr sz="1400" dirty="0">
                <a:solidFill>
                  <a:srgbClr val="2D2D2D"/>
                </a:solidFill>
                <a:latin typeface="Calibri"/>
              </a:rPr>
              <a:t> commerce est </a:t>
            </a:r>
            <a:r>
              <a:rPr sz="1400" dirty="0" err="1">
                <a:solidFill>
                  <a:srgbClr val="2D2D2D"/>
                </a:solidFill>
                <a:latin typeface="Calibri"/>
              </a:rPr>
              <a:t>situé</a:t>
            </a:r>
            <a:r>
              <a:rPr sz="1400" dirty="0">
                <a:solidFill>
                  <a:srgbClr val="2D2D2D"/>
                </a:solidFill>
                <a:latin typeface="Calibri"/>
              </a:rPr>
              <a:t> ?</a:t>
            </a:r>
          </a:p>
          <a:p>
            <a:pPr algn="l">
              <a:lnSpc>
                <a:spcPts val="2100"/>
              </a:lnSpc>
              <a:spcAft>
                <a:spcPts val="500"/>
              </a:spcAft>
            </a:pPr>
            <a:r>
              <a:rPr sz="1400" b="1" dirty="0">
                <a:solidFill>
                  <a:srgbClr val="C49A1C"/>
                </a:solidFill>
                <a:latin typeface="Calibri"/>
              </a:rPr>
              <a:t>▸  </a:t>
            </a:r>
            <a:r>
              <a:rPr sz="1400" dirty="0">
                <a:solidFill>
                  <a:srgbClr val="2D2D2D"/>
                </a:solidFill>
                <a:latin typeface="Calibri"/>
              </a:rPr>
              <a:t>Quels enfants </a:t>
            </a:r>
            <a:r>
              <a:rPr sz="1400" dirty="0" err="1">
                <a:solidFill>
                  <a:srgbClr val="2D2D2D"/>
                </a:solidFill>
                <a:latin typeface="Calibri"/>
              </a:rPr>
              <a:t>vivent</a:t>
            </a:r>
            <a:r>
              <a:rPr sz="1400" dirty="0">
                <a:solidFill>
                  <a:srgbClr val="2D2D2D"/>
                </a:solidFill>
                <a:latin typeface="Calibri"/>
              </a:rPr>
              <a:t> avec un </a:t>
            </a:r>
            <a:r>
              <a:rPr sz="1400" dirty="0" err="1">
                <a:solidFill>
                  <a:srgbClr val="2D2D2D"/>
                </a:solidFill>
                <a:latin typeface="Calibri"/>
              </a:rPr>
              <a:t>adulte</a:t>
            </a:r>
            <a:r>
              <a:rPr sz="1400" dirty="0">
                <a:solidFill>
                  <a:srgbClr val="2D2D2D"/>
                </a:solidFill>
                <a:latin typeface="Calibri"/>
              </a:rPr>
              <a:t> qui </a:t>
            </a:r>
            <a:r>
              <a:rPr sz="1400" dirty="0" err="1">
                <a:solidFill>
                  <a:srgbClr val="2D2D2D"/>
                </a:solidFill>
                <a:latin typeface="Calibri"/>
              </a:rPr>
              <a:t>travaille</a:t>
            </a:r>
            <a:r>
              <a:rPr sz="1400" dirty="0">
                <a:solidFill>
                  <a:srgbClr val="2D2D2D"/>
                </a:solidFill>
                <a:latin typeface="Calibri"/>
              </a:rPr>
              <a:t> dans un commerce du quartier ?</a:t>
            </a:r>
          </a:p>
          <a:p>
            <a:pPr algn="l">
              <a:lnSpc>
                <a:spcPts val="2100"/>
              </a:lnSpc>
              <a:spcAft>
                <a:spcPts val="500"/>
              </a:spcAft>
            </a:pPr>
            <a:r>
              <a:rPr sz="1400" b="1" dirty="0">
                <a:solidFill>
                  <a:srgbClr val="C49A1C"/>
                </a:solidFill>
                <a:latin typeface="Calibri"/>
              </a:rPr>
              <a:t>▸  </a:t>
            </a:r>
            <a:r>
              <a:rPr sz="1400" dirty="0">
                <a:solidFill>
                  <a:srgbClr val="2D2D2D"/>
                </a:solidFill>
                <a:latin typeface="Calibri"/>
              </a:rPr>
              <a:t>Quels habitants </a:t>
            </a:r>
            <a:r>
              <a:rPr sz="1400" dirty="0" err="1">
                <a:solidFill>
                  <a:srgbClr val="2D2D2D"/>
                </a:solidFill>
                <a:latin typeface="Calibri"/>
              </a:rPr>
              <a:t>partagent</a:t>
            </a:r>
            <a:r>
              <a:rPr sz="1400" dirty="0">
                <a:solidFill>
                  <a:srgbClr val="2D2D2D"/>
                </a:solidFill>
                <a:latin typeface="Calibri"/>
              </a:rPr>
              <a:t> les </a:t>
            </a:r>
            <a:r>
              <a:rPr sz="1400" dirty="0" err="1">
                <a:solidFill>
                  <a:srgbClr val="2D2D2D"/>
                </a:solidFill>
                <a:latin typeface="Calibri"/>
              </a:rPr>
              <a:t>mêmes</a:t>
            </a:r>
            <a:r>
              <a:rPr sz="1400" dirty="0">
                <a:solidFill>
                  <a:srgbClr val="2D2D2D"/>
                </a:solidFill>
                <a:latin typeface="Calibri"/>
              </a:rPr>
              <a:t> infrastructures (école, </a:t>
            </a:r>
            <a:r>
              <a:rPr sz="1400" dirty="0" err="1">
                <a:solidFill>
                  <a:srgbClr val="2D2D2D"/>
                </a:solidFill>
                <a:latin typeface="Calibri"/>
              </a:rPr>
              <a:t>centre</a:t>
            </a:r>
            <a:r>
              <a:rPr sz="1400" dirty="0">
                <a:solidFill>
                  <a:srgbClr val="2D2D2D"/>
                </a:solidFill>
                <a:latin typeface="Calibri"/>
              </a:rPr>
              <a:t> de santé) sans </a:t>
            </a:r>
            <a:r>
              <a:rPr sz="1400" dirty="0" err="1">
                <a:solidFill>
                  <a:srgbClr val="2D2D2D"/>
                </a:solidFill>
                <a:latin typeface="Calibri"/>
              </a:rPr>
              <a:t>habiter</a:t>
            </a:r>
            <a:r>
              <a:rPr sz="1400" dirty="0">
                <a:solidFill>
                  <a:srgbClr val="2D2D2D"/>
                </a:solidFill>
                <a:latin typeface="Calibri"/>
              </a:rPr>
              <a:t> la </a:t>
            </a:r>
            <a:r>
              <a:rPr sz="1400" dirty="0" err="1">
                <a:solidFill>
                  <a:srgbClr val="2D2D2D"/>
                </a:solidFill>
                <a:latin typeface="Calibri"/>
              </a:rPr>
              <a:t>même</a:t>
            </a:r>
            <a:r>
              <a:rPr sz="1400" dirty="0">
                <a:solidFill>
                  <a:srgbClr val="2D2D2D"/>
                </a:solidFill>
                <a:latin typeface="Calibri"/>
              </a:rPr>
              <a:t> maison ?</a:t>
            </a:r>
          </a:p>
          <a:p>
            <a:pPr algn="l">
              <a:lnSpc>
                <a:spcPts val="2100"/>
              </a:lnSpc>
              <a:spcAft>
                <a:spcPts val="500"/>
              </a:spcAft>
            </a:pPr>
            <a:r>
              <a:rPr sz="1400" b="1" dirty="0">
                <a:solidFill>
                  <a:srgbClr val="C49A1C"/>
                </a:solidFill>
                <a:latin typeface="Calibri"/>
              </a:rPr>
              <a:t>▸  </a:t>
            </a:r>
            <a:r>
              <a:rPr sz="1400" dirty="0" err="1">
                <a:solidFill>
                  <a:srgbClr val="2D2D2D"/>
                </a:solidFill>
                <a:latin typeface="Calibri"/>
              </a:rPr>
              <a:t>Quelles</a:t>
            </a:r>
            <a:r>
              <a:rPr sz="1400" dirty="0">
                <a:solidFill>
                  <a:srgbClr val="2D2D2D"/>
                </a:solidFill>
                <a:latin typeface="Calibri"/>
              </a:rPr>
              <a:t> maisons </a:t>
            </a:r>
            <a:r>
              <a:rPr sz="1400" dirty="0" err="1">
                <a:solidFill>
                  <a:srgbClr val="2D2D2D"/>
                </a:solidFill>
                <a:latin typeface="Calibri"/>
              </a:rPr>
              <a:t>sont</a:t>
            </a:r>
            <a:r>
              <a:rPr sz="1400" dirty="0">
                <a:solidFill>
                  <a:srgbClr val="2D2D2D"/>
                </a:solidFill>
                <a:latin typeface="Calibri"/>
              </a:rPr>
              <a:t> </a:t>
            </a:r>
            <a:r>
              <a:rPr sz="1400" dirty="0" err="1">
                <a:solidFill>
                  <a:srgbClr val="2D2D2D"/>
                </a:solidFill>
                <a:latin typeface="Calibri"/>
              </a:rPr>
              <a:t>reliées</a:t>
            </a:r>
            <a:r>
              <a:rPr sz="1400" dirty="0">
                <a:solidFill>
                  <a:srgbClr val="2D2D2D"/>
                </a:solidFill>
                <a:latin typeface="Calibri"/>
              </a:rPr>
              <a:t> à un </a:t>
            </a:r>
            <a:r>
              <a:rPr sz="1400" dirty="0" err="1">
                <a:solidFill>
                  <a:srgbClr val="2D2D2D"/>
                </a:solidFill>
                <a:latin typeface="Calibri"/>
              </a:rPr>
              <a:t>centre</a:t>
            </a:r>
            <a:r>
              <a:rPr sz="1400" dirty="0">
                <a:solidFill>
                  <a:srgbClr val="2D2D2D"/>
                </a:solidFill>
                <a:latin typeface="Calibri"/>
              </a:rPr>
              <a:t> de santé par </a:t>
            </a:r>
            <a:r>
              <a:rPr sz="1400" dirty="0" err="1">
                <a:solidFill>
                  <a:srgbClr val="2D2D2D"/>
                </a:solidFill>
                <a:latin typeface="Calibri"/>
              </a:rPr>
              <a:t>l'intermédiaire</a:t>
            </a:r>
            <a:r>
              <a:rPr sz="1400" dirty="0">
                <a:solidFill>
                  <a:srgbClr val="2D2D2D"/>
                </a:solidFill>
                <a:latin typeface="Calibri"/>
              </a:rPr>
              <a:t> des habitants qui </a:t>
            </a:r>
            <a:r>
              <a:rPr sz="1400" dirty="0" err="1">
                <a:solidFill>
                  <a:srgbClr val="2D2D2D"/>
                </a:solidFill>
                <a:latin typeface="Calibri"/>
              </a:rPr>
              <a:t>s'y</a:t>
            </a:r>
            <a:r>
              <a:rPr sz="1400" dirty="0">
                <a:solidFill>
                  <a:srgbClr val="2D2D2D"/>
                </a:solidFill>
                <a:latin typeface="Calibri"/>
              </a:rPr>
              <a:t> </a:t>
            </a:r>
            <a:r>
              <a:rPr sz="1400" dirty="0" err="1">
                <a:solidFill>
                  <a:srgbClr val="2D2D2D"/>
                </a:solidFill>
                <a:latin typeface="Calibri"/>
              </a:rPr>
              <a:t>rendent</a:t>
            </a:r>
            <a:r>
              <a:rPr sz="1400" dirty="0">
                <a:solidFill>
                  <a:srgbClr val="2D2D2D"/>
                </a:solidFill>
                <a:latin typeface="Calibri"/>
              </a:rPr>
              <a:t> ?</a:t>
            </a:r>
          </a:p>
          <a:p>
            <a:pPr algn="l">
              <a:lnSpc>
                <a:spcPts val="2100"/>
              </a:lnSpc>
              <a:spcAft>
                <a:spcPts val="500"/>
              </a:spcAft>
            </a:pPr>
            <a:r>
              <a:rPr sz="1400" b="1" dirty="0">
                <a:solidFill>
                  <a:srgbClr val="C49A1C"/>
                </a:solidFill>
                <a:latin typeface="Calibri"/>
              </a:rPr>
              <a:t>▸  </a:t>
            </a:r>
            <a:r>
              <a:rPr sz="1400" dirty="0">
                <a:solidFill>
                  <a:srgbClr val="2D2D2D"/>
                </a:solidFill>
                <a:latin typeface="Calibri"/>
              </a:rPr>
              <a:t>Quels habitants </a:t>
            </a:r>
            <a:r>
              <a:rPr sz="1400" dirty="0" err="1">
                <a:solidFill>
                  <a:srgbClr val="2D2D2D"/>
                </a:solidFill>
                <a:latin typeface="Calibri"/>
              </a:rPr>
              <a:t>sont</a:t>
            </a:r>
            <a:r>
              <a:rPr sz="1400" dirty="0">
                <a:solidFill>
                  <a:srgbClr val="2D2D2D"/>
                </a:solidFill>
                <a:latin typeface="Calibri"/>
              </a:rPr>
              <a:t> </a:t>
            </a:r>
            <a:r>
              <a:rPr sz="1400" dirty="0" err="1">
                <a:solidFill>
                  <a:srgbClr val="2D2D2D"/>
                </a:solidFill>
                <a:latin typeface="Calibri"/>
              </a:rPr>
              <a:t>connectés</a:t>
            </a:r>
            <a:r>
              <a:rPr sz="1400" dirty="0">
                <a:solidFill>
                  <a:srgbClr val="2D2D2D"/>
                </a:solidFill>
                <a:latin typeface="Calibri"/>
              </a:rPr>
              <a:t> entre </a:t>
            </a:r>
            <a:r>
              <a:rPr sz="1400" dirty="0" err="1">
                <a:solidFill>
                  <a:srgbClr val="2D2D2D"/>
                </a:solidFill>
                <a:latin typeface="Calibri"/>
              </a:rPr>
              <a:t>eux</a:t>
            </a:r>
            <a:r>
              <a:rPr sz="1400" dirty="0">
                <a:solidFill>
                  <a:srgbClr val="2D2D2D"/>
                </a:solidFill>
                <a:latin typeface="Calibri"/>
              </a:rPr>
              <a:t> par </a:t>
            </a:r>
            <a:r>
              <a:rPr sz="1400" dirty="0" err="1">
                <a:solidFill>
                  <a:srgbClr val="2D2D2D"/>
                </a:solidFill>
                <a:latin typeface="Calibri"/>
              </a:rPr>
              <a:t>une</a:t>
            </a:r>
            <a:r>
              <a:rPr sz="1400" dirty="0">
                <a:solidFill>
                  <a:srgbClr val="2D2D2D"/>
                </a:solidFill>
                <a:latin typeface="Calibri"/>
              </a:rPr>
              <a:t> </a:t>
            </a:r>
            <a:r>
              <a:rPr sz="1400" dirty="0" err="1">
                <a:solidFill>
                  <a:srgbClr val="2D2D2D"/>
                </a:solidFill>
                <a:latin typeface="Calibri"/>
              </a:rPr>
              <a:t>chaîne</a:t>
            </a:r>
            <a:r>
              <a:rPr sz="1400" dirty="0">
                <a:solidFill>
                  <a:srgbClr val="2D2D2D"/>
                </a:solidFill>
                <a:latin typeface="Calibri"/>
              </a:rPr>
              <a:t> de relations passant par </a:t>
            </a:r>
            <a:r>
              <a:rPr sz="1400" dirty="0" err="1">
                <a:solidFill>
                  <a:srgbClr val="2D2D2D"/>
                </a:solidFill>
                <a:latin typeface="Calibri"/>
              </a:rPr>
              <a:t>une</a:t>
            </a:r>
            <a:r>
              <a:rPr sz="1400" dirty="0">
                <a:solidFill>
                  <a:srgbClr val="2D2D2D"/>
                </a:solidFill>
                <a:latin typeface="Calibri"/>
              </a:rPr>
              <a:t> école, un commerce </a:t>
            </a:r>
            <a:r>
              <a:rPr sz="1400" dirty="0" err="1">
                <a:solidFill>
                  <a:srgbClr val="2D2D2D"/>
                </a:solidFill>
                <a:latin typeface="Calibri"/>
              </a:rPr>
              <a:t>ou</a:t>
            </a:r>
            <a:r>
              <a:rPr sz="1400" dirty="0">
                <a:solidFill>
                  <a:srgbClr val="2D2D2D"/>
                </a:solidFill>
                <a:latin typeface="Calibri"/>
              </a:rPr>
              <a:t> un </a:t>
            </a:r>
            <a:r>
              <a:rPr sz="1400" dirty="0" err="1">
                <a:solidFill>
                  <a:srgbClr val="2D2D2D"/>
                </a:solidFill>
                <a:latin typeface="Calibri"/>
              </a:rPr>
              <a:t>centre</a:t>
            </a:r>
            <a:r>
              <a:rPr sz="1400" dirty="0">
                <a:solidFill>
                  <a:srgbClr val="2D2D2D"/>
                </a:solidFill>
                <a:latin typeface="Calibri"/>
              </a:rPr>
              <a:t> de santé ?</a:t>
            </a:r>
          </a:p>
          <a:p>
            <a:pPr algn="l">
              <a:lnSpc>
                <a:spcPts val="2100"/>
              </a:lnSpc>
              <a:spcAft>
                <a:spcPts val="500"/>
              </a:spcAft>
            </a:pPr>
            <a:r>
              <a:rPr sz="1400" b="1" dirty="0">
                <a:solidFill>
                  <a:srgbClr val="C49A1C"/>
                </a:solidFill>
                <a:latin typeface="Calibri"/>
              </a:rPr>
              <a:t>▸  </a:t>
            </a:r>
            <a:r>
              <a:rPr sz="1400" dirty="0">
                <a:solidFill>
                  <a:srgbClr val="2D2D2D"/>
                </a:solidFill>
                <a:latin typeface="Calibri"/>
              </a:rPr>
              <a:t>Quels services </a:t>
            </a:r>
            <a:r>
              <a:rPr sz="1400" dirty="0" err="1">
                <a:solidFill>
                  <a:srgbClr val="2D2D2D"/>
                </a:solidFill>
                <a:latin typeface="Calibri"/>
              </a:rPr>
              <a:t>sont</a:t>
            </a:r>
            <a:r>
              <a:rPr sz="1400" dirty="0">
                <a:solidFill>
                  <a:srgbClr val="2D2D2D"/>
                </a:solidFill>
                <a:latin typeface="Calibri"/>
              </a:rPr>
              <a:t> </a:t>
            </a:r>
            <a:r>
              <a:rPr sz="1400" dirty="0" err="1">
                <a:solidFill>
                  <a:srgbClr val="2D2D2D"/>
                </a:solidFill>
                <a:latin typeface="Calibri"/>
              </a:rPr>
              <a:t>accessibles</a:t>
            </a:r>
            <a:r>
              <a:rPr sz="1400" dirty="0">
                <a:solidFill>
                  <a:srgbClr val="2D2D2D"/>
                </a:solidFill>
                <a:latin typeface="Calibri"/>
              </a:rPr>
              <a:t> à </a:t>
            </a:r>
            <a:r>
              <a:rPr sz="1400" dirty="0" err="1">
                <a:solidFill>
                  <a:srgbClr val="2D2D2D"/>
                </a:solidFill>
                <a:latin typeface="Calibri"/>
              </a:rPr>
              <a:t>tous</a:t>
            </a:r>
            <a:r>
              <a:rPr sz="1400" dirty="0">
                <a:solidFill>
                  <a:srgbClr val="2D2D2D"/>
                </a:solidFill>
                <a:latin typeface="Calibri"/>
              </a:rPr>
              <a:t> les </a:t>
            </a:r>
            <a:r>
              <a:rPr sz="1400" dirty="0" err="1">
                <a:solidFill>
                  <a:srgbClr val="2D2D2D"/>
                </a:solidFill>
                <a:latin typeface="Calibri"/>
              </a:rPr>
              <a:t>membres</a:t>
            </a:r>
            <a:r>
              <a:rPr sz="1400" dirty="0">
                <a:solidFill>
                  <a:srgbClr val="2D2D2D"/>
                </a:solidFill>
                <a:latin typeface="Calibri"/>
              </a:rPr>
              <a:t> </a:t>
            </a:r>
            <a:r>
              <a:rPr sz="1400" dirty="0" err="1">
                <a:solidFill>
                  <a:srgbClr val="2D2D2D"/>
                </a:solidFill>
                <a:latin typeface="Calibri"/>
              </a:rPr>
              <a:t>d'une</a:t>
            </a:r>
            <a:r>
              <a:rPr sz="1400" dirty="0">
                <a:solidFill>
                  <a:srgbClr val="2D2D2D"/>
                </a:solidFill>
                <a:latin typeface="Calibri"/>
              </a:rPr>
              <a:t> </a:t>
            </a:r>
            <a:r>
              <a:rPr sz="1400" dirty="0" err="1">
                <a:solidFill>
                  <a:srgbClr val="2D2D2D"/>
                </a:solidFill>
                <a:latin typeface="Calibri"/>
              </a:rPr>
              <a:t>même</a:t>
            </a:r>
            <a:r>
              <a:rPr sz="1400" dirty="0">
                <a:solidFill>
                  <a:srgbClr val="2D2D2D"/>
                </a:solidFill>
                <a:latin typeface="Calibri"/>
              </a:rPr>
              <a:t> maison ?</a:t>
            </a:r>
          </a:p>
          <a:p>
            <a:pPr algn="l">
              <a:lnSpc>
                <a:spcPts val="2100"/>
              </a:lnSpc>
              <a:spcAft>
                <a:spcPts val="500"/>
              </a:spcAft>
            </a:pPr>
            <a:r>
              <a:rPr sz="1400" b="1" dirty="0">
                <a:solidFill>
                  <a:srgbClr val="C49A1C"/>
                </a:solidFill>
                <a:latin typeface="Calibri"/>
              </a:rPr>
              <a:t>▸  </a:t>
            </a:r>
            <a:r>
              <a:rPr sz="1400" dirty="0">
                <a:solidFill>
                  <a:srgbClr val="2D2D2D"/>
                </a:solidFill>
                <a:latin typeface="Calibri"/>
              </a:rPr>
              <a:t>Quels </a:t>
            </a:r>
            <a:r>
              <a:rPr sz="1400" dirty="0" err="1">
                <a:solidFill>
                  <a:srgbClr val="2D2D2D"/>
                </a:solidFill>
                <a:latin typeface="Calibri"/>
              </a:rPr>
              <a:t>sont</a:t>
            </a:r>
            <a:r>
              <a:rPr sz="1400" dirty="0">
                <a:solidFill>
                  <a:srgbClr val="2D2D2D"/>
                </a:solidFill>
                <a:latin typeface="Calibri"/>
              </a:rPr>
              <a:t> les chemins (</a:t>
            </a:r>
            <a:r>
              <a:rPr sz="1400" dirty="0" err="1">
                <a:solidFill>
                  <a:srgbClr val="2D2D2D"/>
                </a:solidFill>
                <a:latin typeface="Calibri"/>
              </a:rPr>
              <a:t>séquences</a:t>
            </a:r>
            <a:r>
              <a:rPr sz="1400" dirty="0">
                <a:solidFill>
                  <a:srgbClr val="2D2D2D"/>
                </a:solidFill>
                <a:latin typeface="Calibri"/>
              </a:rPr>
              <a:t> de relations) qui </a:t>
            </a:r>
            <a:r>
              <a:rPr sz="1400" dirty="0" err="1">
                <a:solidFill>
                  <a:srgbClr val="2D2D2D"/>
                </a:solidFill>
                <a:latin typeface="Calibri"/>
              </a:rPr>
              <a:t>permettent</a:t>
            </a:r>
            <a:r>
              <a:rPr sz="1400" dirty="0">
                <a:solidFill>
                  <a:srgbClr val="2D2D2D"/>
                </a:solidFill>
                <a:latin typeface="Calibri"/>
              </a:rPr>
              <a:t> de </a:t>
            </a:r>
            <a:r>
              <a:rPr sz="1400" dirty="0" err="1">
                <a:solidFill>
                  <a:srgbClr val="2D2D2D"/>
                </a:solidFill>
                <a:latin typeface="Calibri"/>
              </a:rPr>
              <a:t>relier</a:t>
            </a:r>
            <a:r>
              <a:rPr sz="1400" dirty="0">
                <a:solidFill>
                  <a:srgbClr val="2D2D2D"/>
                </a:solidFill>
                <a:latin typeface="Calibri"/>
              </a:rPr>
              <a:t> un habitant à un commerce </a:t>
            </a:r>
            <a:r>
              <a:rPr sz="1400" dirty="0" err="1">
                <a:solidFill>
                  <a:srgbClr val="2D2D2D"/>
                </a:solidFill>
                <a:latin typeface="Calibri"/>
              </a:rPr>
              <a:t>ou</a:t>
            </a:r>
            <a:r>
              <a:rPr sz="1400" dirty="0">
                <a:solidFill>
                  <a:srgbClr val="2D2D2D"/>
                </a:solidFill>
                <a:latin typeface="Calibri"/>
              </a:rPr>
              <a:t> à un </a:t>
            </a:r>
            <a:r>
              <a:rPr sz="1400" dirty="0" err="1">
                <a:solidFill>
                  <a:srgbClr val="2D2D2D"/>
                </a:solidFill>
                <a:latin typeface="Calibri"/>
              </a:rPr>
              <a:t>centre</a:t>
            </a:r>
            <a:r>
              <a:rPr sz="1400" dirty="0">
                <a:solidFill>
                  <a:srgbClr val="2D2D2D"/>
                </a:solidFill>
                <a:latin typeface="Calibri"/>
              </a:rPr>
              <a:t> de santé du quartier ?</a:t>
            </a:r>
          </a:p>
          <a:p>
            <a:pPr algn="l">
              <a:lnSpc>
                <a:spcPts val="2100"/>
              </a:lnSpc>
              <a:spcAft>
                <a:spcPts val="500"/>
              </a:spcAft>
            </a:pPr>
            <a:r>
              <a:rPr sz="1400" b="1" dirty="0">
                <a:solidFill>
                  <a:srgbClr val="C49A1C"/>
                </a:solidFill>
                <a:latin typeface="Calibri"/>
              </a:rPr>
              <a:t>▸  </a:t>
            </a:r>
            <a:r>
              <a:rPr sz="1400" dirty="0" err="1">
                <a:solidFill>
                  <a:srgbClr val="2D2D2D"/>
                </a:solidFill>
                <a:latin typeface="Calibri"/>
              </a:rPr>
              <a:t>Combien</a:t>
            </a:r>
            <a:r>
              <a:rPr sz="1400" dirty="0">
                <a:solidFill>
                  <a:srgbClr val="2D2D2D"/>
                </a:solidFill>
                <a:latin typeface="Calibri"/>
              </a:rPr>
              <a:t> </a:t>
            </a:r>
            <a:r>
              <a:rPr sz="1400" dirty="0" err="1">
                <a:solidFill>
                  <a:srgbClr val="2D2D2D"/>
                </a:solidFill>
                <a:latin typeface="Calibri"/>
              </a:rPr>
              <a:t>d'habitants</a:t>
            </a:r>
            <a:r>
              <a:rPr sz="1400" dirty="0">
                <a:solidFill>
                  <a:srgbClr val="2D2D2D"/>
                </a:solidFill>
                <a:latin typeface="Calibri"/>
              </a:rPr>
              <a:t> </a:t>
            </a:r>
            <a:r>
              <a:rPr sz="1400" dirty="0" err="1">
                <a:solidFill>
                  <a:srgbClr val="2D2D2D"/>
                </a:solidFill>
                <a:latin typeface="Calibri"/>
              </a:rPr>
              <a:t>comptent</a:t>
            </a:r>
            <a:r>
              <a:rPr sz="1400" dirty="0">
                <a:solidFill>
                  <a:srgbClr val="2D2D2D"/>
                </a:solidFill>
                <a:latin typeface="Calibri"/>
              </a:rPr>
              <a:t> les maisons du quartier au total (</a:t>
            </a:r>
            <a:r>
              <a:rPr sz="1400" dirty="0" err="1">
                <a:solidFill>
                  <a:srgbClr val="2D2D2D"/>
                </a:solidFill>
                <a:latin typeface="Calibri"/>
              </a:rPr>
              <a:t>tous</a:t>
            </a:r>
            <a:r>
              <a:rPr sz="1400" dirty="0">
                <a:solidFill>
                  <a:srgbClr val="2D2D2D"/>
                </a:solidFill>
                <a:latin typeface="Calibri"/>
              </a:rPr>
              <a:t> ages </a:t>
            </a:r>
            <a:r>
              <a:rPr sz="1400" dirty="0" err="1">
                <a:solidFill>
                  <a:srgbClr val="2D2D2D"/>
                </a:solidFill>
                <a:latin typeface="Calibri"/>
              </a:rPr>
              <a:t>confondus</a:t>
            </a:r>
            <a:r>
              <a:rPr sz="1400" dirty="0">
                <a:solidFill>
                  <a:srgbClr val="2D2D2D"/>
                </a:solidFill>
                <a:latin typeface="Calibri"/>
              </a:rPr>
              <a:t>) ?</a:t>
            </a:r>
          </a:p>
          <a:p>
            <a:pPr algn="l">
              <a:lnSpc>
                <a:spcPts val="2100"/>
              </a:lnSpc>
              <a:spcAft>
                <a:spcPts val="500"/>
              </a:spcAft>
            </a:pPr>
            <a:r>
              <a:rPr sz="1400" b="1" dirty="0">
                <a:solidFill>
                  <a:srgbClr val="C49A1C"/>
                </a:solidFill>
                <a:latin typeface="Calibri"/>
              </a:rPr>
              <a:t>▸  </a:t>
            </a:r>
            <a:r>
              <a:rPr sz="1400" dirty="0">
                <a:solidFill>
                  <a:srgbClr val="2D2D2D"/>
                </a:solidFill>
                <a:latin typeface="Calibri"/>
              </a:rPr>
              <a:t>Quels </a:t>
            </a:r>
            <a:r>
              <a:rPr sz="1400" dirty="0" err="1">
                <a:solidFill>
                  <a:srgbClr val="2D2D2D"/>
                </a:solidFill>
                <a:latin typeface="Calibri"/>
              </a:rPr>
              <a:t>sont</a:t>
            </a:r>
            <a:r>
              <a:rPr sz="1400" dirty="0">
                <a:solidFill>
                  <a:srgbClr val="2D2D2D"/>
                </a:solidFill>
                <a:latin typeface="Calibri"/>
              </a:rPr>
              <a:t> les </a:t>
            </a:r>
            <a:r>
              <a:rPr sz="1400" dirty="0" err="1">
                <a:solidFill>
                  <a:srgbClr val="2D2D2D"/>
                </a:solidFill>
                <a:latin typeface="Calibri"/>
              </a:rPr>
              <a:t>adultes</a:t>
            </a:r>
            <a:r>
              <a:rPr sz="1400" dirty="0">
                <a:solidFill>
                  <a:srgbClr val="2D2D2D"/>
                </a:solidFill>
                <a:latin typeface="Calibri"/>
              </a:rPr>
              <a:t> qui </a:t>
            </a:r>
            <a:r>
              <a:rPr sz="1400" dirty="0" err="1">
                <a:solidFill>
                  <a:srgbClr val="2D2D2D"/>
                </a:solidFill>
                <a:latin typeface="Calibri"/>
              </a:rPr>
              <a:t>travaillent</a:t>
            </a:r>
            <a:r>
              <a:rPr sz="1400" dirty="0">
                <a:solidFill>
                  <a:srgbClr val="2D2D2D"/>
                </a:solidFill>
                <a:latin typeface="Calibri"/>
              </a:rPr>
              <a:t> dans un commerce du quartier ?</a:t>
            </a:r>
          </a:p>
          <a:p>
            <a:pPr algn="l">
              <a:lnSpc>
                <a:spcPts val="2100"/>
              </a:lnSpc>
              <a:spcAft>
                <a:spcPts val="500"/>
              </a:spcAft>
            </a:pPr>
            <a:r>
              <a:rPr sz="1400" b="1" dirty="0">
                <a:solidFill>
                  <a:srgbClr val="C49A1C"/>
                </a:solidFill>
                <a:latin typeface="Calibri"/>
              </a:rPr>
              <a:t>▸  </a:t>
            </a:r>
            <a:r>
              <a:rPr sz="1400" dirty="0">
                <a:solidFill>
                  <a:srgbClr val="2D2D2D"/>
                </a:solidFill>
                <a:latin typeface="Calibri"/>
              </a:rPr>
              <a:t>Quels enfants </a:t>
            </a:r>
            <a:r>
              <a:rPr sz="1400" dirty="0" err="1">
                <a:solidFill>
                  <a:srgbClr val="2D2D2D"/>
                </a:solidFill>
                <a:latin typeface="Calibri"/>
              </a:rPr>
              <a:t>frequentent</a:t>
            </a:r>
            <a:r>
              <a:rPr sz="1400" dirty="0">
                <a:solidFill>
                  <a:srgbClr val="2D2D2D"/>
                </a:solidFill>
                <a:latin typeface="Calibri"/>
              </a:rPr>
              <a:t> </a:t>
            </a:r>
            <a:r>
              <a:rPr sz="1400" dirty="0" err="1">
                <a:solidFill>
                  <a:srgbClr val="2D2D2D"/>
                </a:solidFill>
                <a:latin typeface="Calibri"/>
              </a:rPr>
              <a:t>l'ecole</a:t>
            </a:r>
            <a:r>
              <a:rPr sz="1400" dirty="0">
                <a:solidFill>
                  <a:srgbClr val="2D2D2D"/>
                </a:solidFill>
                <a:latin typeface="Calibri"/>
              </a:rPr>
              <a:t> </a:t>
            </a:r>
            <a:r>
              <a:rPr sz="1400" dirty="0" err="1">
                <a:solidFill>
                  <a:srgbClr val="2D2D2D"/>
                </a:solidFill>
                <a:latin typeface="Calibri"/>
              </a:rPr>
              <a:t>primaire</a:t>
            </a:r>
            <a:r>
              <a:rPr sz="1400" dirty="0">
                <a:solidFill>
                  <a:srgbClr val="2D2D2D"/>
                </a:solidFill>
                <a:latin typeface="Calibri"/>
              </a:rPr>
              <a:t> du quartier ?</a:t>
            </a:r>
          </a:p>
          <a:p>
            <a:pPr algn="l">
              <a:lnSpc>
                <a:spcPts val="2100"/>
              </a:lnSpc>
              <a:spcAft>
                <a:spcPts val="500"/>
              </a:spcAft>
            </a:pPr>
            <a:r>
              <a:rPr sz="1400" b="1" dirty="0">
                <a:solidFill>
                  <a:srgbClr val="C49A1C"/>
                </a:solidFill>
                <a:latin typeface="Calibri"/>
              </a:rPr>
              <a:t>▸  </a:t>
            </a:r>
            <a:r>
              <a:rPr sz="1400" dirty="0" err="1">
                <a:solidFill>
                  <a:srgbClr val="2D2D2D"/>
                </a:solidFill>
                <a:latin typeface="Calibri"/>
              </a:rPr>
              <a:t>Quelles</a:t>
            </a:r>
            <a:r>
              <a:rPr sz="1400" dirty="0">
                <a:solidFill>
                  <a:srgbClr val="2D2D2D"/>
                </a:solidFill>
                <a:latin typeface="Calibri"/>
              </a:rPr>
              <a:t> </a:t>
            </a:r>
            <a:r>
              <a:rPr sz="1400" dirty="0" err="1">
                <a:solidFill>
                  <a:srgbClr val="2D2D2D"/>
                </a:solidFill>
                <a:latin typeface="Calibri"/>
              </a:rPr>
              <a:t>personnes</a:t>
            </a:r>
            <a:r>
              <a:rPr sz="1400" dirty="0">
                <a:solidFill>
                  <a:srgbClr val="2D2D2D"/>
                </a:solidFill>
                <a:latin typeface="Calibri"/>
              </a:rPr>
              <a:t> </a:t>
            </a:r>
            <a:r>
              <a:rPr sz="1400" dirty="0" err="1">
                <a:solidFill>
                  <a:srgbClr val="2D2D2D"/>
                </a:solidFill>
                <a:latin typeface="Calibri"/>
              </a:rPr>
              <a:t>agees</a:t>
            </a:r>
            <a:r>
              <a:rPr sz="1400" dirty="0">
                <a:solidFill>
                  <a:srgbClr val="2D2D2D"/>
                </a:solidFill>
                <a:latin typeface="Calibri"/>
              </a:rPr>
              <a:t> se </a:t>
            </a:r>
            <a:r>
              <a:rPr sz="1400" dirty="0" err="1">
                <a:solidFill>
                  <a:srgbClr val="2D2D2D"/>
                </a:solidFill>
                <a:latin typeface="Calibri"/>
              </a:rPr>
              <a:t>soignent</a:t>
            </a:r>
            <a:r>
              <a:rPr sz="1400" dirty="0">
                <a:solidFill>
                  <a:srgbClr val="2D2D2D"/>
                </a:solidFill>
                <a:latin typeface="Calibri"/>
              </a:rPr>
              <a:t> au </a:t>
            </a:r>
            <a:r>
              <a:rPr sz="1400" dirty="0" err="1">
                <a:solidFill>
                  <a:srgbClr val="2D2D2D"/>
                </a:solidFill>
                <a:latin typeface="Calibri"/>
              </a:rPr>
              <a:t>centre</a:t>
            </a:r>
            <a:r>
              <a:rPr sz="1400" dirty="0">
                <a:solidFill>
                  <a:srgbClr val="2D2D2D"/>
                </a:solidFill>
                <a:latin typeface="Calibri"/>
              </a:rPr>
              <a:t> de </a:t>
            </a:r>
            <a:r>
              <a:rPr sz="1400" dirty="0" err="1">
                <a:solidFill>
                  <a:srgbClr val="2D2D2D"/>
                </a:solidFill>
                <a:latin typeface="Calibri"/>
              </a:rPr>
              <a:t>sante</a:t>
            </a:r>
            <a:r>
              <a:rPr sz="1400" dirty="0">
                <a:solidFill>
                  <a:srgbClr val="2D2D2D"/>
                </a:solidFill>
                <a:latin typeface="Calibri"/>
              </a:rPr>
              <a:t> du quartier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91695" cy="3657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537960"/>
            <a:ext cx="10972800" cy="274320"/>
          </a:xfrm>
          <a:prstGeom prst="rect">
            <a:avLst/>
          </a:prstGeom>
          <a:noFill/>
        </p:spPr>
        <p:txBody>
          <a:bodyPr wrap="none">
            <a:spAutoFit/>
          </a:bodyPr>
          <a:lstStyle/>
          <a:p>
            <a:pPr algn="l"/>
            <a:r>
              <a:rPr sz="900">
                <a:solidFill>
                  <a:srgbClr val="90A8C4"/>
                </a:solidFill>
                <a:latin typeface="Calibri"/>
              </a:rPr>
              <a:t>Graphe de connaissances : Modélisation d'un quartier</a:t>
            </a:r>
          </a:p>
        </p:txBody>
      </p:sp>
      <p:sp>
        <p:nvSpPr>
          <p:cNvPr id="6" name="TextBox 5"/>
          <p:cNvSpPr txBox="1"/>
          <p:nvPr/>
        </p:nvSpPr>
        <p:spPr>
          <a:xfrm>
            <a:off x="10515600" y="6537960"/>
            <a:ext cx="1371600" cy="274320"/>
          </a:xfrm>
          <a:prstGeom prst="rect">
            <a:avLst/>
          </a:prstGeom>
          <a:noFill/>
        </p:spPr>
        <p:txBody>
          <a:bodyPr wrap="none">
            <a:spAutoFit/>
          </a:bodyPr>
          <a:lstStyle/>
          <a:p>
            <a:pPr algn="r"/>
            <a:r>
              <a:rPr sz="900">
                <a:solidFill>
                  <a:srgbClr val="90A8C4"/>
                </a:solidFill>
                <a:latin typeface="Calibri"/>
              </a:rPr>
              <a:t>5 / 13</a:t>
            </a:r>
          </a:p>
        </p:txBody>
      </p:sp>
      <p:sp>
        <p:nvSpPr>
          <p:cNvPr id="7" name="Rounded Rectangle 6"/>
          <p:cNvSpPr/>
          <p:nvPr/>
        </p:nvSpPr>
        <p:spPr>
          <a:xfrm>
            <a:off x="731520" y="320040"/>
            <a:ext cx="1463040" cy="347472"/>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ÉTAPE 4</a:t>
            </a:r>
          </a:p>
        </p:txBody>
      </p:sp>
      <p:sp>
        <p:nvSpPr>
          <p:cNvPr id="8" name="TextBox 7"/>
          <p:cNvSpPr txBox="1"/>
          <p:nvPr/>
        </p:nvSpPr>
        <p:spPr>
          <a:xfrm>
            <a:off x="731520" y="777240"/>
            <a:ext cx="10698480" cy="731520"/>
          </a:xfrm>
          <a:prstGeom prst="rect">
            <a:avLst/>
          </a:prstGeom>
          <a:noFill/>
        </p:spPr>
        <p:txBody>
          <a:bodyPr wrap="square">
            <a:spAutoFit/>
          </a:bodyPr>
          <a:lstStyle/>
          <a:p>
            <a:pPr algn="l">
              <a:lnSpc>
                <a:spcPts val="3900"/>
              </a:lnSpc>
            </a:pPr>
            <a:r>
              <a:rPr sz="2800" b="1" i="0">
                <a:solidFill>
                  <a:srgbClr val="1B2A4A"/>
                </a:solidFill>
                <a:latin typeface="Calibri"/>
              </a:rPr>
              <a:t>Identification des relations</a:t>
            </a:r>
          </a:p>
        </p:txBody>
      </p:sp>
      <p:graphicFrame>
        <p:nvGraphicFramePr>
          <p:cNvPr id="9" name="Table 8"/>
          <p:cNvGraphicFramePr>
            <a:graphicFrameLocks noGrp="1"/>
          </p:cNvGraphicFramePr>
          <p:nvPr/>
        </p:nvGraphicFramePr>
        <p:xfrm>
          <a:off x="731520" y="1645920"/>
          <a:ext cx="10698480" cy="45720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3840480">
                  <a:extLst>
                    <a:ext uri="{9D8B030D-6E8A-4147-A177-3AD203B41FA5}">
                      <a16:colId xmlns:a16="http://schemas.microsoft.com/office/drawing/2014/main" val="20003"/>
                    </a:ext>
                  </a:extLst>
                </a:gridCol>
              </a:tblGrid>
              <a:tr h="571500">
                <a:tc>
                  <a:txBody>
                    <a:bodyPr/>
                    <a:lstStyle/>
                    <a:p>
                      <a:pPr algn="ctr">
                        <a:spcBef>
                          <a:spcPts val="200"/>
                        </a:spcBef>
                        <a:spcAft>
                          <a:spcPts val="200"/>
                        </a:spcAft>
                      </a:pPr>
                      <a:r>
                        <a:rPr sz="1300" b="1">
                          <a:solidFill>
                            <a:srgbClr val="FFFFFF"/>
                          </a:solidFill>
                          <a:latin typeface="Calibri"/>
                        </a:rPr>
                        <a:t>SOURCE</a:t>
                      </a:r>
                    </a:p>
                  </a:txBody>
                  <a:tcPr marL="73152" marR="73152" marT="36576" marB="36576" anchor="ctr">
                    <a:solidFill>
                      <a:srgbClr val="1B2A4A"/>
                    </a:solidFill>
                  </a:tcPr>
                </a:tc>
                <a:tc>
                  <a:txBody>
                    <a:bodyPr/>
                    <a:lstStyle/>
                    <a:p>
                      <a:pPr algn="ctr">
                        <a:spcBef>
                          <a:spcPts val="200"/>
                        </a:spcBef>
                        <a:spcAft>
                          <a:spcPts val="200"/>
                        </a:spcAft>
                      </a:pPr>
                      <a:r>
                        <a:rPr sz="1300" b="1">
                          <a:solidFill>
                            <a:srgbClr val="FFFFFF"/>
                          </a:solidFill>
                          <a:latin typeface="Calibri"/>
                        </a:rPr>
                        <a:t>NOM DE RELATION</a:t>
                      </a:r>
                    </a:p>
                  </a:txBody>
                  <a:tcPr marL="73152" marR="73152" marT="36576" marB="36576" anchor="ctr">
                    <a:solidFill>
                      <a:srgbClr val="1B2A4A"/>
                    </a:solidFill>
                  </a:tcPr>
                </a:tc>
                <a:tc>
                  <a:txBody>
                    <a:bodyPr/>
                    <a:lstStyle/>
                    <a:p>
                      <a:pPr algn="ctr">
                        <a:spcBef>
                          <a:spcPts val="200"/>
                        </a:spcBef>
                        <a:spcAft>
                          <a:spcPts val="200"/>
                        </a:spcAft>
                      </a:pPr>
                      <a:r>
                        <a:rPr sz="1300" b="1">
                          <a:solidFill>
                            <a:srgbClr val="FFFFFF"/>
                          </a:solidFill>
                          <a:latin typeface="Calibri"/>
                        </a:rPr>
                        <a:t>CIBLE</a:t>
                      </a:r>
                    </a:p>
                  </a:txBody>
                  <a:tcPr marL="73152" marR="73152" marT="36576" marB="36576" anchor="ctr">
                    <a:solidFill>
                      <a:srgbClr val="1B2A4A"/>
                    </a:solidFill>
                  </a:tcPr>
                </a:tc>
                <a:tc>
                  <a:txBody>
                    <a:bodyPr/>
                    <a:lstStyle/>
                    <a:p>
                      <a:pPr algn="ctr">
                        <a:spcBef>
                          <a:spcPts val="200"/>
                        </a:spcBef>
                        <a:spcAft>
                          <a:spcPts val="200"/>
                        </a:spcAft>
                      </a:pPr>
                      <a:r>
                        <a:rPr sz="1300" b="1">
                          <a:solidFill>
                            <a:srgbClr val="FFFFFF"/>
                          </a:solidFill>
                          <a:latin typeface="Calibri"/>
                        </a:rPr>
                        <a:t>SIGNIFICATION</a:t>
                      </a:r>
                    </a:p>
                  </a:txBody>
                  <a:tcPr marL="73152" marR="73152" marT="36576" marB="36576" anchor="ctr">
                    <a:solidFill>
                      <a:srgbClr val="1B2A4A"/>
                    </a:solidFill>
                  </a:tcPr>
                </a:tc>
                <a:extLst>
                  <a:ext uri="{0D108BD9-81ED-4DB2-BD59-A6C34878D82A}">
                    <a16:rowId xmlns:a16="http://schemas.microsoft.com/office/drawing/2014/main" val="10000"/>
                  </a:ext>
                </a:extLst>
              </a:tr>
              <a:tr h="571500">
                <a:tc>
                  <a:txBody>
                    <a:bodyPr/>
                    <a:lstStyle/>
                    <a:p>
                      <a:pPr algn="l">
                        <a:spcBef>
                          <a:spcPts val="200"/>
                        </a:spcBef>
                        <a:spcAft>
                          <a:spcPts val="200"/>
                        </a:spcAft>
                      </a:pPr>
                      <a:r>
                        <a:rPr sz="1200" b="0">
                          <a:solidFill>
                            <a:srgbClr val="2D2D2D"/>
                          </a:solidFill>
                          <a:latin typeface="Calibri"/>
                        </a:rPr>
                        <a:t>Habitant</a:t>
                      </a:r>
                    </a:p>
                  </a:txBody>
                  <a:tcPr marL="73152" marR="73152" marT="36576" marB="36576" anchor="ctr">
                    <a:lnL w="0" cap="flat" cmpd="sng" algn="ctr"/>
                    <a:lnR w="0" cap="flat" cmpd="sng" algn="ctr"/>
                    <a:lnB w="6350" cap="flat" cmpd="sng" algn="ctr">
                      <a:solidFill>
                        <a:srgbClr val="1B2A4A"/>
                      </a:solidFill>
                    </a:lnB>
                  </a:tcPr>
                </a:tc>
                <a:tc>
                  <a:txBody>
                    <a:bodyPr/>
                    <a:lstStyle/>
                    <a:p>
                      <a:pPr algn="ctr">
                        <a:spcBef>
                          <a:spcPts val="200"/>
                        </a:spcBef>
                        <a:spcAft>
                          <a:spcPts val="200"/>
                        </a:spcAft>
                      </a:pPr>
                      <a:r>
                        <a:rPr sz="1200" b="1">
                          <a:solidFill>
                            <a:srgbClr val="C49A1C"/>
                          </a:solidFill>
                          <a:latin typeface="Calibri"/>
                        </a:rPr>
                        <a:t>HABITE</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Maison</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La personne habite dans une maison</a:t>
                      </a:r>
                    </a:p>
                  </a:txBody>
                  <a:tcPr marL="73152" marR="73152" marT="36576" marB="36576" anchor="ctr">
                    <a:lnL w="0" cap="flat" cmpd="sng" algn="ctr"/>
                    <a:lnR w="0" cap="flat" cmpd="sng" algn="ctr"/>
                    <a:lnB w="6350" cap="flat" cmpd="sng" algn="ctr">
                      <a:solidFill>
                        <a:srgbClr val="1B2A4A"/>
                      </a:solidFill>
                    </a:lnB>
                  </a:tcPr>
                </a:tc>
                <a:extLst>
                  <a:ext uri="{0D108BD9-81ED-4DB2-BD59-A6C34878D82A}">
                    <a16:rowId xmlns:a16="http://schemas.microsoft.com/office/drawing/2014/main" val="10001"/>
                  </a:ext>
                </a:extLst>
              </a:tr>
              <a:tr h="571500">
                <a:tc>
                  <a:txBody>
                    <a:bodyPr/>
                    <a:lstStyle/>
                    <a:p>
                      <a:pPr algn="l">
                        <a:spcBef>
                          <a:spcPts val="200"/>
                        </a:spcBef>
                        <a:spcAft>
                          <a:spcPts val="200"/>
                        </a:spcAft>
                      </a:pPr>
                      <a:r>
                        <a:rPr sz="1200" b="0">
                          <a:solidFill>
                            <a:srgbClr val="2D2D2D"/>
                          </a:solidFill>
                          <a:latin typeface="Calibri"/>
                        </a:rPr>
                        <a:t>Maison</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ctr">
                        <a:spcBef>
                          <a:spcPts val="200"/>
                        </a:spcBef>
                        <a:spcAft>
                          <a:spcPts val="200"/>
                        </a:spcAft>
                      </a:pPr>
                      <a:r>
                        <a:rPr sz="1200" b="1">
                          <a:solidFill>
                            <a:srgbClr val="C49A1C"/>
                          </a:solidFill>
                          <a:latin typeface="Calibri"/>
                        </a:rPr>
                        <a:t>EST_DANS</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Quartier</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La maison appartient au quartier</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extLst>
                  <a:ext uri="{0D108BD9-81ED-4DB2-BD59-A6C34878D82A}">
                    <a16:rowId xmlns:a16="http://schemas.microsoft.com/office/drawing/2014/main" val="10002"/>
                  </a:ext>
                </a:extLst>
              </a:tr>
              <a:tr h="571500">
                <a:tc>
                  <a:txBody>
                    <a:bodyPr/>
                    <a:lstStyle/>
                    <a:p>
                      <a:pPr algn="l">
                        <a:spcBef>
                          <a:spcPts val="200"/>
                        </a:spcBef>
                        <a:spcAft>
                          <a:spcPts val="200"/>
                        </a:spcAft>
                      </a:pPr>
                      <a:r>
                        <a:rPr sz="1200" b="0">
                          <a:solidFill>
                            <a:srgbClr val="2D2D2D"/>
                          </a:solidFill>
                          <a:latin typeface="Calibri"/>
                        </a:rPr>
                        <a:t>Enfant</a:t>
                      </a:r>
                    </a:p>
                  </a:txBody>
                  <a:tcPr marL="73152" marR="73152" marT="36576" marB="36576" anchor="ctr">
                    <a:lnL w="0" cap="flat" cmpd="sng" algn="ctr"/>
                    <a:lnR w="0" cap="flat" cmpd="sng" algn="ctr"/>
                    <a:lnB w="6350" cap="flat" cmpd="sng" algn="ctr">
                      <a:solidFill>
                        <a:srgbClr val="1B2A4A"/>
                      </a:solidFill>
                    </a:lnB>
                  </a:tcPr>
                </a:tc>
                <a:tc>
                  <a:txBody>
                    <a:bodyPr/>
                    <a:lstStyle/>
                    <a:p>
                      <a:pPr algn="ctr">
                        <a:spcBef>
                          <a:spcPts val="200"/>
                        </a:spcBef>
                        <a:spcAft>
                          <a:spcPts val="200"/>
                        </a:spcAft>
                      </a:pPr>
                      <a:r>
                        <a:rPr sz="1200" b="1">
                          <a:solidFill>
                            <a:srgbClr val="C49A1C"/>
                          </a:solidFill>
                          <a:latin typeface="Calibri"/>
                        </a:rPr>
                        <a:t>FREQUENTE</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Ecole</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L'enfant va à l'école</a:t>
                      </a:r>
                    </a:p>
                  </a:txBody>
                  <a:tcPr marL="73152" marR="73152" marT="36576" marB="36576" anchor="ctr">
                    <a:lnL w="0" cap="flat" cmpd="sng" algn="ctr"/>
                    <a:lnR w="0" cap="flat" cmpd="sng" algn="ctr"/>
                    <a:lnB w="6350" cap="flat" cmpd="sng" algn="ctr">
                      <a:solidFill>
                        <a:srgbClr val="1B2A4A"/>
                      </a:solidFill>
                    </a:lnB>
                  </a:tcPr>
                </a:tc>
                <a:extLst>
                  <a:ext uri="{0D108BD9-81ED-4DB2-BD59-A6C34878D82A}">
                    <a16:rowId xmlns:a16="http://schemas.microsoft.com/office/drawing/2014/main" val="10003"/>
                  </a:ext>
                </a:extLst>
              </a:tr>
              <a:tr h="571500">
                <a:tc>
                  <a:txBody>
                    <a:bodyPr/>
                    <a:lstStyle/>
                    <a:p>
                      <a:pPr algn="l">
                        <a:spcBef>
                          <a:spcPts val="200"/>
                        </a:spcBef>
                        <a:spcAft>
                          <a:spcPts val="200"/>
                        </a:spcAft>
                      </a:pPr>
                      <a:r>
                        <a:rPr sz="1200" b="0">
                          <a:solidFill>
                            <a:srgbClr val="2D2D2D"/>
                          </a:solidFill>
                          <a:latin typeface="Calibri"/>
                        </a:rPr>
                        <a:t>Adolescent</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ctr">
                        <a:spcBef>
                          <a:spcPts val="200"/>
                        </a:spcBef>
                        <a:spcAft>
                          <a:spcPts val="200"/>
                        </a:spcAft>
                      </a:pPr>
                      <a:r>
                        <a:rPr sz="1200" b="1">
                          <a:solidFill>
                            <a:srgbClr val="C49A1C"/>
                          </a:solidFill>
                          <a:latin typeface="Calibri"/>
                        </a:rPr>
                        <a:t>FREQUENTE</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Ecole</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L'adolescent étudie dans cette école</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extLst>
                  <a:ext uri="{0D108BD9-81ED-4DB2-BD59-A6C34878D82A}">
                    <a16:rowId xmlns:a16="http://schemas.microsoft.com/office/drawing/2014/main" val="10004"/>
                  </a:ext>
                </a:extLst>
              </a:tr>
              <a:tr h="571500">
                <a:tc>
                  <a:txBody>
                    <a:bodyPr/>
                    <a:lstStyle/>
                    <a:p>
                      <a:pPr algn="l">
                        <a:spcBef>
                          <a:spcPts val="200"/>
                        </a:spcBef>
                        <a:spcAft>
                          <a:spcPts val="200"/>
                        </a:spcAft>
                      </a:pPr>
                      <a:r>
                        <a:rPr sz="1200" b="0">
                          <a:solidFill>
                            <a:srgbClr val="2D2D2D"/>
                          </a:solidFill>
                          <a:latin typeface="Calibri"/>
                        </a:rPr>
                        <a:t>Adulte</a:t>
                      </a:r>
                    </a:p>
                  </a:txBody>
                  <a:tcPr marL="73152" marR="73152" marT="36576" marB="36576" anchor="ctr">
                    <a:lnL w="0" cap="flat" cmpd="sng" algn="ctr"/>
                    <a:lnR w="0" cap="flat" cmpd="sng" algn="ctr"/>
                    <a:lnB w="6350" cap="flat" cmpd="sng" algn="ctr">
                      <a:solidFill>
                        <a:srgbClr val="1B2A4A"/>
                      </a:solidFill>
                    </a:lnB>
                  </a:tcPr>
                </a:tc>
                <a:tc>
                  <a:txBody>
                    <a:bodyPr/>
                    <a:lstStyle/>
                    <a:p>
                      <a:pPr algn="ctr">
                        <a:spcBef>
                          <a:spcPts val="200"/>
                        </a:spcBef>
                        <a:spcAft>
                          <a:spcPts val="200"/>
                        </a:spcAft>
                      </a:pPr>
                      <a:r>
                        <a:rPr sz="1200" b="1">
                          <a:solidFill>
                            <a:srgbClr val="C49A1C"/>
                          </a:solidFill>
                          <a:latin typeface="Calibri"/>
                        </a:rPr>
                        <a:t>TRAVAILLE_DANS</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Commerce</a:t>
                      </a:r>
                    </a:p>
                  </a:txBody>
                  <a:tcPr marL="73152" marR="73152" marT="36576" marB="36576" anchor="ctr">
                    <a:lnL w="0" cap="flat" cmpd="sng" algn="ctr"/>
                    <a:lnR w="0" cap="flat" cmpd="sng" algn="ctr"/>
                    <a:lnB w="635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L'adulte travaille dans un commerce</a:t>
                      </a:r>
                    </a:p>
                  </a:txBody>
                  <a:tcPr marL="73152" marR="73152" marT="36576" marB="36576" anchor="ctr">
                    <a:lnL w="0" cap="flat" cmpd="sng" algn="ctr"/>
                    <a:lnR w="0" cap="flat" cmpd="sng" algn="ctr"/>
                    <a:lnB w="6350" cap="flat" cmpd="sng" algn="ctr">
                      <a:solidFill>
                        <a:srgbClr val="1B2A4A"/>
                      </a:solidFill>
                    </a:lnB>
                  </a:tcPr>
                </a:tc>
                <a:extLst>
                  <a:ext uri="{0D108BD9-81ED-4DB2-BD59-A6C34878D82A}">
                    <a16:rowId xmlns:a16="http://schemas.microsoft.com/office/drawing/2014/main" val="10005"/>
                  </a:ext>
                </a:extLst>
              </a:tr>
              <a:tr h="571500">
                <a:tc>
                  <a:txBody>
                    <a:bodyPr/>
                    <a:lstStyle/>
                    <a:p>
                      <a:pPr algn="l">
                        <a:spcBef>
                          <a:spcPts val="200"/>
                        </a:spcBef>
                        <a:spcAft>
                          <a:spcPts val="200"/>
                        </a:spcAft>
                      </a:pPr>
                      <a:r>
                        <a:rPr sz="1200" b="0">
                          <a:solidFill>
                            <a:srgbClr val="2D2D2D"/>
                          </a:solidFill>
                          <a:latin typeface="Calibri"/>
                        </a:rPr>
                        <a:t>Personne âgée</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ctr">
                        <a:spcBef>
                          <a:spcPts val="200"/>
                        </a:spcBef>
                        <a:spcAft>
                          <a:spcPts val="200"/>
                        </a:spcAft>
                      </a:pPr>
                      <a:r>
                        <a:rPr sz="1200" b="1">
                          <a:solidFill>
                            <a:srgbClr val="C49A1C"/>
                          </a:solidFill>
                          <a:latin typeface="Calibri"/>
                        </a:rPr>
                        <a:t>SE_SOIGNE_A</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Centre de santé</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tc>
                  <a:txBody>
                    <a:bodyPr/>
                    <a:lstStyle/>
                    <a:p>
                      <a:pPr algn="l">
                        <a:spcBef>
                          <a:spcPts val="200"/>
                        </a:spcBef>
                        <a:spcAft>
                          <a:spcPts val="200"/>
                        </a:spcAft>
                      </a:pPr>
                      <a:r>
                        <a:rPr sz="1200" b="0">
                          <a:solidFill>
                            <a:srgbClr val="2D2D2D"/>
                          </a:solidFill>
                          <a:latin typeface="Calibri"/>
                        </a:rPr>
                        <a:t>La personne âgée fréquente ce centre de santé</a:t>
                      </a:r>
                    </a:p>
                  </a:txBody>
                  <a:tcPr marL="73152" marR="73152" marT="36576" marB="36576" anchor="ctr">
                    <a:lnT w="6350" cap="flat" cmpd="sng" algn="ctr">
                      <a:solidFill>
                        <a:srgbClr val="1B2A4A"/>
                      </a:solidFill>
                      <a:prstDash val="solid"/>
                      <a:round/>
                      <a:headEnd type="none" w="med" len="med"/>
                      <a:tailEnd type="none" w="med" len="med"/>
                    </a:lnT>
                    <a:solidFill>
                      <a:srgbClr val="E8EDF4"/>
                    </a:solidFill>
                  </a:tcPr>
                </a:tc>
                <a:extLst>
                  <a:ext uri="{0D108BD9-81ED-4DB2-BD59-A6C34878D82A}">
                    <a16:rowId xmlns:a16="http://schemas.microsoft.com/office/drawing/2014/main" val="10006"/>
                  </a:ext>
                </a:extLst>
              </a:tr>
              <a:tr h="571500">
                <a:tc>
                  <a:txBody>
                    <a:bodyPr/>
                    <a:lstStyle/>
                    <a:p>
                      <a:pPr algn="l">
                        <a:spcBef>
                          <a:spcPts val="200"/>
                        </a:spcBef>
                        <a:spcAft>
                          <a:spcPts val="200"/>
                        </a:spcAft>
                      </a:pPr>
                      <a:r>
                        <a:rPr sz="1200" b="0">
                          <a:solidFill>
                            <a:srgbClr val="2D2D2D"/>
                          </a:solidFill>
                          <a:latin typeface="Calibri"/>
                        </a:rPr>
                        <a:t>Commerce</a:t>
                      </a:r>
                    </a:p>
                  </a:txBody>
                  <a:tcPr marL="73152" marR="73152" marT="36576" marB="36576" anchor="ctr">
                    <a:lnL w="0" cap="flat" cmpd="sng" algn="ctr"/>
                    <a:lnR w="0" cap="flat" cmpd="sng" algn="ctr"/>
                    <a:lnB w="12700" cap="flat" cmpd="sng" algn="ctr">
                      <a:solidFill>
                        <a:srgbClr val="1B2A4A"/>
                      </a:solidFill>
                    </a:lnB>
                  </a:tcPr>
                </a:tc>
                <a:tc>
                  <a:txBody>
                    <a:bodyPr/>
                    <a:lstStyle/>
                    <a:p>
                      <a:pPr algn="ctr">
                        <a:spcBef>
                          <a:spcPts val="200"/>
                        </a:spcBef>
                        <a:spcAft>
                          <a:spcPts val="200"/>
                        </a:spcAft>
                      </a:pPr>
                      <a:r>
                        <a:rPr sz="1200" b="1">
                          <a:solidFill>
                            <a:srgbClr val="C49A1C"/>
                          </a:solidFill>
                          <a:latin typeface="Calibri"/>
                        </a:rPr>
                        <a:t>EST_SITUE_SUR</a:t>
                      </a:r>
                    </a:p>
                  </a:txBody>
                  <a:tcPr marL="73152" marR="73152" marT="36576" marB="36576" anchor="ctr">
                    <a:lnL w="0" cap="flat" cmpd="sng" algn="ctr"/>
                    <a:lnR w="0" cap="flat" cmpd="sng" algn="ctr"/>
                    <a:lnB w="1270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Route</a:t>
                      </a:r>
                    </a:p>
                  </a:txBody>
                  <a:tcPr marL="73152" marR="73152" marT="36576" marB="36576" anchor="ctr">
                    <a:lnL w="0" cap="flat" cmpd="sng" algn="ctr"/>
                    <a:lnR w="0" cap="flat" cmpd="sng" algn="ctr"/>
                    <a:lnB w="12700" cap="flat" cmpd="sng" algn="ctr">
                      <a:solidFill>
                        <a:srgbClr val="1B2A4A"/>
                      </a:solidFill>
                    </a:lnB>
                  </a:tcPr>
                </a:tc>
                <a:tc>
                  <a:txBody>
                    <a:bodyPr/>
                    <a:lstStyle/>
                    <a:p>
                      <a:pPr algn="l">
                        <a:spcBef>
                          <a:spcPts val="200"/>
                        </a:spcBef>
                        <a:spcAft>
                          <a:spcPts val="200"/>
                        </a:spcAft>
                      </a:pPr>
                      <a:r>
                        <a:rPr sz="1200" b="0">
                          <a:solidFill>
                            <a:srgbClr val="2D2D2D"/>
                          </a:solidFill>
                          <a:latin typeface="Calibri"/>
                        </a:rPr>
                        <a:t>Le commerce est situé le long d'une route</a:t>
                      </a:r>
                    </a:p>
                  </a:txBody>
                  <a:tcPr marL="73152" marR="73152" marT="36576" marB="36576" anchor="ctr">
                    <a:lnL w="0" cap="flat" cmpd="sng" algn="ctr"/>
                    <a:lnR w="0" cap="flat" cmpd="sng" algn="ctr"/>
                    <a:lnB w="12700" cap="flat" cmpd="sng" algn="ctr">
                      <a:solidFill>
                        <a:srgbClr val="1B2A4A"/>
                      </a:solidFill>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91695" cy="3657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537960"/>
            <a:ext cx="10972800" cy="274320"/>
          </a:xfrm>
          <a:prstGeom prst="rect">
            <a:avLst/>
          </a:prstGeom>
          <a:noFill/>
        </p:spPr>
        <p:txBody>
          <a:bodyPr wrap="none">
            <a:spAutoFit/>
          </a:bodyPr>
          <a:lstStyle/>
          <a:p>
            <a:pPr algn="l"/>
            <a:r>
              <a:rPr sz="900">
                <a:solidFill>
                  <a:srgbClr val="90A8C4"/>
                </a:solidFill>
                <a:latin typeface="Calibri"/>
              </a:rPr>
              <a:t>Graphe de connaissances : Modélisation d'un quartier</a:t>
            </a:r>
          </a:p>
        </p:txBody>
      </p:sp>
      <p:sp>
        <p:nvSpPr>
          <p:cNvPr id="6" name="TextBox 5"/>
          <p:cNvSpPr txBox="1"/>
          <p:nvPr/>
        </p:nvSpPr>
        <p:spPr>
          <a:xfrm>
            <a:off x="10515600" y="6537960"/>
            <a:ext cx="1371600" cy="274320"/>
          </a:xfrm>
          <a:prstGeom prst="rect">
            <a:avLst/>
          </a:prstGeom>
          <a:noFill/>
        </p:spPr>
        <p:txBody>
          <a:bodyPr wrap="none">
            <a:spAutoFit/>
          </a:bodyPr>
          <a:lstStyle/>
          <a:p>
            <a:pPr algn="r"/>
            <a:r>
              <a:rPr sz="900">
                <a:solidFill>
                  <a:srgbClr val="90A8C4"/>
                </a:solidFill>
                <a:latin typeface="Calibri"/>
              </a:rPr>
              <a:t>6 / 13</a:t>
            </a:r>
          </a:p>
        </p:txBody>
      </p:sp>
      <p:sp>
        <p:nvSpPr>
          <p:cNvPr id="7" name="Rounded Rectangle 6"/>
          <p:cNvSpPr/>
          <p:nvPr/>
        </p:nvSpPr>
        <p:spPr>
          <a:xfrm>
            <a:off x="731520" y="320040"/>
            <a:ext cx="1463040" cy="347472"/>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ÉTAPE 5</a:t>
            </a:r>
          </a:p>
        </p:txBody>
      </p:sp>
      <p:sp>
        <p:nvSpPr>
          <p:cNvPr id="8" name="TextBox 7"/>
          <p:cNvSpPr txBox="1"/>
          <p:nvPr/>
        </p:nvSpPr>
        <p:spPr>
          <a:xfrm>
            <a:off x="731520" y="777240"/>
            <a:ext cx="10698480" cy="731520"/>
          </a:xfrm>
          <a:prstGeom prst="rect">
            <a:avLst/>
          </a:prstGeom>
          <a:noFill/>
        </p:spPr>
        <p:txBody>
          <a:bodyPr wrap="square">
            <a:spAutoFit/>
          </a:bodyPr>
          <a:lstStyle/>
          <a:p>
            <a:pPr algn="l">
              <a:lnSpc>
                <a:spcPts val="3900"/>
              </a:lnSpc>
            </a:pPr>
            <a:r>
              <a:rPr sz="2800" b="1" i="0">
                <a:solidFill>
                  <a:srgbClr val="1B2A4A"/>
                </a:solidFill>
                <a:latin typeface="Calibri"/>
              </a:rPr>
              <a:t>Utilisation des opérateurs sur les graphes — Union</a:t>
            </a:r>
          </a:p>
        </p:txBody>
      </p:sp>
      <p:sp>
        <p:nvSpPr>
          <p:cNvPr id="9" name="Rectangle 8"/>
          <p:cNvSpPr/>
          <p:nvPr/>
        </p:nvSpPr>
        <p:spPr>
          <a:xfrm>
            <a:off x="0" y="1143000"/>
            <a:ext cx="109728" cy="475488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737360"/>
            <a:ext cx="10515600" cy="548640"/>
          </a:xfrm>
          <a:prstGeom prst="rect">
            <a:avLst/>
          </a:prstGeom>
          <a:noFill/>
        </p:spPr>
        <p:txBody>
          <a:bodyPr wrap="square">
            <a:spAutoFit/>
          </a:bodyPr>
          <a:lstStyle/>
          <a:p>
            <a:pPr algn="l">
              <a:lnSpc>
                <a:spcPts val="2300"/>
              </a:lnSpc>
            </a:pPr>
            <a:r>
              <a:rPr sz="1700" b="0" i="0">
                <a:solidFill>
                  <a:srgbClr val="2D2D2D"/>
                </a:solidFill>
                <a:latin typeface="Calibri"/>
              </a:rPr>
              <a:t>L'union de deux graphes consiste les à fusionner pour former un seul graphe.</a:t>
            </a:r>
          </a:p>
        </p:txBody>
      </p:sp>
      <p:sp>
        <p:nvSpPr>
          <p:cNvPr id="11" name="Rounded Rectangle 10"/>
          <p:cNvSpPr/>
          <p:nvPr/>
        </p:nvSpPr>
        <p:spPr>
          <a:xfrm>
            <a:off x="731520" y="2560320"/>
            <a:ext cx="10698480" cy="3474720"/>
          </a:xfrm>
          <a:prstGeom prst="round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1520" y="2560320"/>
            <a:ext cx="64008" cy="347472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2743200"/>
            <a:ext cx="10241280" cy="3200400"/>
          </a:xfrm>
          <a:prstGeom prst="rect">
            <a:avLst/>
          </a:prstGeom>
          <a:noFill/>
        </p:spPr>
        <p:txBody>
          <a:bodyPr wrap="square">
            <a:spAutoFit/>
          </a:bodyPr>
          <a:lstStyle/>
          <a:p>
            <a:r>
              <a:rPr sz="1600" b="1">
                <a:solidFill>
                  <a:srgbClr val="1B2A4A"/>
                </a:solidFill>
                <a:latin typeface="Calibri"/>
              </a:rPr>
              <a:t>Application au domaine (quartier) :</a:t>
            </a:r>
          </a:p>
          <a:p>
            <a:pPr>
              <a:lnSpc>
                <a:spcPts val="2200"/>
              </a:lnSpc>
              <a:spcBef>
                <a:spcPts val="800"/>
              </a:spcBef>
            </a:pPr>
            <a:r>
              <a:rPr sz="1500" b="1">
                <a:solidFill>
                  <a:srgbClr val="C49A1C"/>
                </a:solidFill>
                <a:latin typeface="Calibri"/>
              </a:rPr>
              <a:t>▸  </a:t>
            </a:r>
            <a:r>
              <a:rPr sz="1500">
                <a:solidFill>
                  <a:srgbClr val="2D2D2D"/>
                </a:solidFill>
                <a:latin typeface="Calibri"/>
              </a:rPr>
              <a:t>Soit deux quartiers (A et B), l'union permettra de combiner toutes les entités (habitants, écoles, commerces) et toutes les relations des deux quartiers dans un seul graphe.</a:t>
            </a:r>
          </a:p>
          <a:p>
            <a:pPr>
              <a:lnSpc>
                <a:spcPts val="2200"/>
              </a:lnSpc>
              <a:spcBef>
                <a:spcPts val="800"/>
              </a:spcBef>
            </a:pPr>
            <a:r>
              <a:rPr sz="1500" b="1">
                <a:solidFill>
                  <a:srgbClr val="C49A1C"/>
                </a:solidFill>
                <a:latin typeface="Calibri"/>
              </a:rPr>
              <a:t>▸  </a:t>
            </a:r>
            <a:r>
              <a:rPr sz="1500">
                <a:solidFill>
                  <a:srgbClr val="2D2D2D"/>
                </a:solidFill>
                <a:latin typeface="Calibri"/>
              </a:rPr>
              <a:t>Cela permet d'avoir une vue globale de l'ensemble des données.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91695" cy="3657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537960"/>
            <a:ext cx="10972800" cy="274320"/>
          </a:xfrm>
          <a:prstGeom prst="rect">
            <a:avLst/>
          </a:prstGeom>
          <a:noFill/>
        </p:spPr>
        <p:txBody>
          <a:bodyPr wrap="none">
            <a:spAutoFit/>
          </a:bodyPr>
          <a:lstStyle/>
          <a:p>
            <a:pPr algn="l"/>
            <a:r>
              <a:rPr sz="900">
                <a:solidFill>
                  <a:srgbClr val="90A8C4"/>
                </a:solidFill>
                <a:latin typeface="Calibri"/>
              </a:rPr>
              <a:t>Graphe de connaissances : Modélisation d'un quartier</a:t>
            </a:r>
          </a:p>
        </p:txBody>
      </p:sp>
      <p:sp>
        <p:nvSpPr>
          <p:cNvPr id="6" name="TextBox 5"/>
          <p:cNvSpPr txBox="1"/>
          <p:nvPr/>
        </p:nvSpPr>
        <p:spPr>
          <a:xfrm>
            <a:off x="10515600" y="6537960"/>
            <a:ext cx="1371600" cy="274320"/>
          </a:xfrm>
          <a:prstGeom prst="rect">
            <a:avLst/>
          </a:prstGeom>
          <a:noFill/>
        </p:spPr>
        <p:txBody>
          <a:bodyPr wrap="none">
            <a:spAutoFit/>
          </a:bodyPr>
          <a:lstStyle/>
          <a:p>
            <a:pPr algn="r"/>
            <a:r>
              <a:rPr sz="900">
                <a:solidFill>
                  <a:srgbClr val="90A8C4"/>
                </a:solidFill>
                <a:latin typeface="Calibri"/>
              </a:rPr>
              <a:t>7 / 13</a:t>
            </a:r>
          </a:p>
        </p:txBody>
      </p:sp>
      <p:sp>
        <p:nvSpPr>
          <p:cNvPr id="7" name="TextBox 6"/>
          <p:cNvSpPr txBox="1"/>
          <p:nvPr/>
        </p:nvSpPr>
        <p:spPr>
          <a:xfrm>
            <a:off x="731520" y="365760"/>
            <a:ext cx="10698480" cy="640080"/>
          </a:xfrm>
          <a:prstGeom prst="rect">
            <a:avLst/>
          </a:prstGeom>
          <a:noFill/>
        </p:spPr>
        <p:txBody>
          <a:bodyPr wrap="square">
            <a:spAutoFit/>
          </a:bodyPr>
          <a:lstStyle/>
          <a:p>
            <a:pPr algn="l">
              <a:lnSpc>
                <a:spcPts val="3900"/>
              </a:lnSpc>
            </a:pPr>
            <a:r>
              <a:rPr sz="2800" b="1" i="0">
                <a:solidFill>
                  <a:srgbClr val="1B2A4A"/>
                </a:solidFill>
                <a:latin typeface="Calibri"/>
              </a:rPr>
              <a:t>2.) Insertion</a:t>
            </a:r>
          </a:p>
        </p:txBody>
      </p:sp>
      <p:sp>
        <p:nvSpPr>
          <p:cNvPr id="8" name="Rectangle 7"/>
          <p:cNvSpPr/>
          <p:nvPr/>
        </p:nvSpPr>
        <p:spPr>
          <a:xfrm>
            <a:off x="0" y="365760"/>
            <a:ext cx="109728" cy="530352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280160"/>
            <a:ext cx="10515600" cy="548640"/>
          </a:xfrm>
          <a:prstGeom prst="rect">
            <a:avLst/>
          </a:prstGeom>
          <a:noFill/>
        </p:spPr>
        <p:txBody>
          <a:bodyPr wrap="square">
            <a:spAutoFit/>
          </a:bodyPr>
          <a:lstStyle/>
          <a:p>
            <a:pPr algn="l">
              <a:lnSpc>
                <a:spcPts val="2300"/>
              </a:lnSpc>
            </a:pPr>
            <a:r>
              <a:rPr sz="1700" b="0" i="0">
                <a:solidFill>
                  <a:srgbClr val="2D2D2D"/>
                </a:solidFill>
                <a:latin typeface="Calibri"/>
              </a:rPr>
              <a:t>L'insertion garde uniquement les éléments communs entre deux graphes.</a:t>
            </a:r>
          </a:p>
        </p:txBody>
      </p:sp>
      <p:sp>
        <p:nvSpPr>
          <p:cNvPr id="10" name="Rounded Rectangle 9"/>
          <p:cNvSpPr/>
          <p:nvPr/>
        </p:nvSpPr>
        <p:spPr>
          <a:xfrm>
            <a:off x="731520" y="2103120"/>
            <a:ext cx="10698480" cy="3840480"/>
          </a:xfrm>
          <a:prstGeom prst="round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2103120"/>
            <a:ext cx="64008" cy="384048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286000"/>
            <a:ext cx="10241280" cy="3566160"/>
          </a:xfrm>
          <a:prstGeom prst="rect">
            <a:avLst/>
          </a:prstGeom>
          <a:noFill/>
        </p:spPr>
        <p:txBody>
          <a:bodyPr wrap="square">
            <a:spAutoFit/>
          </a:bodyPr>
          <a:lstStyle/>
          <a:p>
            <a:r>
              <a:rPr sz="1600" b="1">
                <a:solidFill>
                  <a:srgbClr val="1B2A4A"/>
                </a:solidFill>
                <a:latin typeface="Calibri"/>
              </a:rPr>
              <a:t>Principe :</a:t>
            </a:r>
          </a:p>
          <a:p>
            <a:pPr>
              <a:lnSpc>
                <a:spcPts val="2200"/>
              </a:lnSpc>
              <a:spcBef>
                <a:spcPts val="800"/>
              </a:spcBef>
            </a:pPr>
            <a:r>
              <a:rPr sz="1500" b="1">
                <a:solidFill>
                  <a:srgbClr val="C49A1C"/>
                </a:solidFill>
                <a:latin typeface="Calibri"/>
              </a:rPr>
              <a:t>▸  </a:t>
            </a:r>
            <a:r>
              <a:rPr sz="1500">
                <a:solidFill>
                  <a:srgbClr val="2D2D2D"/>
                </a:solidFill>
                <a:latin typeface="Calibri"/>
              </a:rPr>
              <a:t>L'intersection de deux graphes ne conserve que les nœuds et les arcs qui existent dans les deux graphes simultanément.</a:t>
            </a:r>
          </a:p>
          <a:p>
            <a:pPr>
              <a:lnSpc>
                <a:spcPts val="2200"/>
              </a:lnSpc>
              <a:spcBef>
                <a:spcPts val="800"/>
              </a:spcBef>
            </a:pPr>
            <a:r>
              <a:rPr sz="1500" b="1">
                <a:solidFill>
                  <a:srgbClr val="C49A1C"/>
                </a:solidFill>
                <a:latin typeface="Calibri"/>
              </a:rPr>
              <a:t>▸  </a:t>
            </a:r>
            <a:r>
              <a:rPr sz="1500">
                <a:solidFill>
                  <a:srgbClr val="2D2D2D"/>
                </a:solidFill>
                <a:latin typeface="Calibri"/>
              </a:rPr>
              <a:t>Par exemple, si le quartier A et le quartier B partagent certains habitants ou infrastructures communes, l'insertion retournera uniquement ces éléments partagés.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91695" cy="3657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537960"/>
            <a:ext cx="10972800" cy="274320"/>
          </a:xfrm>
          <a:prstGeom prst="rect">
            <a:avLst/>
          </a:prstGeom>
          <a:noFill/>
        </p:spPr>
        <p:txBody>
          <a:bodyPr wrap="none">
            <a:spAutoFit/>
          </a:bodyPr>
          <a:lstStyle/>
          <a:p>
            <a:pPr algn="l"/>
            <a:r>
              <a:rPr sz="900">
                <a:solidFill>
                  <a:srgbClr val="90A8C4"/>
                </a:solidFill>
                <a:latin typeface="Calibri"/>
              </a:rPr>
              <a:t>Graphe de connaissances : Modélisation d'un quartier</a:t>
            </a:r>
          </a:p>
        </p:txBody>
      </p:sp>
      <p:sp>
        <p:nvSpPr>
          <p:cNvPr id="6" name="TextBox 5"/>
          <p:cNvSpPr txBox="1"/>
          <p:nvPr/>
        </p:nvSpPr>
        <p:spPr>
          <a:xfrm>
            <a:off x="10515600" y="6537960"/>
            <a:ext cx="1371600" cy="274320"/>
          </a:xfrm>
          <a:prstGeom prst="rect">
            <a:avLst/>
          </a:prstGeom>
          <a:noFill/>
        </p:spPr>
        <p:txBody>
          <a:bodyPr wrap="none">
            <a:spAutoFit/>
          </a:bodyPr>
          <a:lstStyle/>
          <a:p>
            <a:pPr algn="r"/>
            <a:r>
              <a:rPr sz="900">
                <a:solidFill>
                  <a:srgbClr val="90A8C4"/>
                </a:solidFill>
                <a:latin typeface="Calibri"/>
              </a:rPr>
              <a:t>8 / 13</a:t>
            </a:r>
          </a:p>
        </p:txBody>
      </p:sp>
      <p:sp>
        <p:nvSpPr>
          <p:cNvPr id="7" name="TextBox 6"/>
          <p:cNvSpPr txBox="1"/>
          <p:nvPr/>
        </p:nvSpPr>
        <p:spPr>
          <a:xfrm>
            <a:off x="731520" y="365760"/>
            <a:ext cx="10698480" cy="640080"/>
          </a:xfrm>
          <a:prstGeom prst="rect">
            <a:avLst/>
          </a:prstGeom>
          <a:noFill/>
        </p:spPr>
        <p:txBody>
          <a:bodyPr wrap="square">
            <a:spAutoFit/>
          </a:bodyPr>
          <a:lstStyle/>
          <a:p>
            <a:pPr algn="l">
              <a:lnSpc>
                <a:spcPts val="3900"/>
              </a:lnSpc>
            </a:pPr>
            <a:r>
              <a:rPr sz="2800" b="1" i="0">
                <a:solidFill>
                  <a:srgbClr val="1B2A4A"/>
                </a:solidFill>
                <a:latin typeface="Calibri"/>
              </a:rPr>
              <a:t>3.) Jointure</a:t>
            </a:r>
          </a:p>
        </p:txBody>
      </p:sp>
      <p:sp>
        <p:nvSpPr>
          <p:cNvPr id="8" name="Rectangle 7"/>
          <p:cNvSpPr/>
          <p:nvPr/>
        </p:nvSpPr>
        <p:spPr>
          <a:xfrm>
            <a:off x="0" y="365760"/>
            <a:ext cx="109728" cy="530352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280160"/>
            <a:ext cx="10515600" cy="548640"/>
          </a:xfrm>
          <a:prstGeom prst="rect">
            <a:avLst/>
          </a:prstGeom>
          <a:noFill/>
        </p:spPr>
        <p:txBody>
          <a:bodyPr wrap="square">
            <a:spAutoFit/>
          </a:bodyPr>
          <a:lstStyle/>
          <a:p>
            <a:pPr algn="l">
              <a:lnSpc>
                <a:spcPts val="2300"/>
              </a:lnSpc>
            </a:pPr>
            <a:r>
              <a:rPr sz="1700" b="0" i="0">
                <a:solidFill>
                  <a:srgbClr val="2D2D2D"/>
                </a:solidFill>
                <a:latin typeface="Calibri"/>
              </a:rPr>
              <a:t>La jointure permet de relier deux graphes grâce à une information commune.</a:t>
            </a:r>
          </a:p>
        </p:txBody>
      </p:sp>
      <p:sp>
        <p:nvSpPr>
          <p:cNvPr id="10" name="Rounded Rectangle 9"/>
          <p:cNvSpPr/>
          <p:nvPr/>
        </p:nvSpPr>
        <p:spPr>
          <a:xfrm>
            <a:off x="731520" y="2011680"/>
            <a:ext cx="10698480" cy="4114800"/>
          </a:xfrm>
          <a:prstGeom prst="round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2011680"/>
            <a:ext cx="64008" cy="411480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194560"/>
            <a:ext cx="10241280" cy="3840480"/>
          </a:xfrm>
          <a:prstGeom prst="rect">
            <a:avLst/>
          </a:prstGeom>
          <a:noFill/>
        </p:spPr>
        <p:txBody>
          <a:bodyPr wrap="square">
            <a:spAutoFit/>
          </a:bodyPr>
          <a:lstStyle/>
          <a:p>
            <a:r>
              <a:rPr sz="1600" b="1">
                <a:solidFill>
                  <a:srgbClr val="1B2A4A"/>
                </a:solidFill>
                <a:latin typeface="Calibri"/>
              </a:rPr>
              <a:t>Exemple :</a:t>
            </a:r>
          </a:p>
          <a:p>
            <a:pPr>
              <a:lnSpc>
                <a:spcPts val="2200"/>
              </a:lnSpc>
              <a:spcBef>
                <a:spcPts val="800"/>
              </a:spcBef>
            </a:pPr>
            <a:r>
              <a:rPr sz="1500" b="1">
                <a:solidFill>
                  <a:srgbClr val="C49A1C"/>
                </a:solidFill>
                <a:latin typeface="Calibri"/>
              </a:rPr>
              <a:t>▸  </a:t>
            </a:r>
            <a:r>
              <a:rPr sz="1500">
                <a:solidFill>
                  <a:srgbClr val="2D2D2D"/>
                </a:solidFill>
                <a:latin typeface="Calibri"/>
              </a:rPr>
              <a:t>La jointure permet de relier les deux graphes comme : « le graphe des habitants et le graphe des écoles » grâce aux élèves.</a:t>
            </a:r>
          </a:p>
          <a:p>
            <a:pPr>
              <a:lnSpc>
                <a:spcPts val="2200"/>
              </a:lnSpc>
              <a:spcBef>
                <a:spcPts val="800"/>
              </a:spcBef>
            </a:pPr>
            <a:r>
              <a:rPr sz="1500" b="1">
                <a:solidFill>
                  <a:srgbClr val="C49A1C"/>
                </a:solidFill>
                <a:latin typeface="Calibri"/>
              </a:rPr>
              <a:t>▸  </a:t>
            </a:r>
            <a:r>
              <a:rPr sz="1500">
                <a:solidFill>
                  <a:srgbClr val="2D2D2D"/>
                </a:solidFill>
                <a:latin typeface="Calibri"/>
              </a:rPr>
              <a:t>Khalilou fréquente à l'école A</a:t>
            </a:r>
          </a:p>
          <a:p>
            <a:pPr>
              <a:lnSpc>
                <a:spcPts val="2200"/>
              </a:lnSpc>
              <a:spcBef>
                <a:spcPts val="800"/>
              </a:spcBef>
            </a:pPr>
            <a:r>
              <a:rPr sz="1500" b="1">
                <a:solidFill>
                  <a:srgbClr val="C49A1C"/>
                </a:solidFill>
                <a:latin typeface="Calibri"/>
              </a:rPr>
              <a:t>▸  </a:t>
            </a:r>
            <a:r>
              <a:rPr sz="1500">
                <a:solidFill>
                  <a:srgbClr val="2D2D2D"/>
                </a:solidFill>
                <a:latin typeface="Calibri"/>
              </a:rPr>
              <a:t>Idrissa fréquente à l'école A</a:t>
            </a:r>
          </a:p>
          <a:p>
            <a:pPr>
              <a:lnSpc>
                <a:spcPts val="2200"/>
              </a:lnSpc>
              <a:spcBef>
                <a:spcPts val="800"/>
              </a:spcBef>
            </a:pPr>
            <a:r>
              <a:rPr sz="1500" b="1">
                <a:solidFill>
                  <a:srgbClr val="C49A1C"/>
                </a:solidFill>
                <a:latin typeface="Calibri"/>
              </a:rPr>
              <a:t>▸  </a:t>
            </a:r>
            <a:r>
              <a:rPr sz="1500">
                <a:solidFill>
                  <a:srgbClr val="2D2D2D"/>
                </a:solidFill>
                <a:latin typeface="Calibri"/>
              </a:rPr>
              <a:t>On joint les habitants avec les écoles via « fréquente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91695" cy="3657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537960"/>
            <a:ext cx="10972800" cy="274320"/>
          </a:xfrm>
          <a:prstGeom prst="rect">
            <a:avLst/>
          </a:prstGeom>
          <a:noFill/>
        </p:spPr>
        <p:txBody>
          <a:bodyPr wrap="none">
            <a:spAutoFit/>
          </a:bodyPr>
          <a:lstStyle/>
          <a:p>
            <a:pPr algn="l"/>
            <a:r>
              <a:rPr sz="900">
                <a:solidFill>
                  <a:srgbClr val="90A8C4"/>
                </a:solidFill>
                <a:latin typeface="Calibri"/>
              </a:rPr>
              <a:t>Graphe de connaissances : Modélisation d'un quartier</a:t>
            </a:r>
          </a:p>
        </p:txBody>
      </p:sp>
      <p:sp>
        <p:nvSpPr>
          <p:cNvPr id="6" name="TextBox 5"/>
          <p:cNvSpPr txBox="1"/>
          <p:nvPr/>
        </p:nvSpPr>
        <p:spPr>
          <a:xfrm>
            <a:off x="10515600" y="6537960"/>
            <a:ext cx="1371600" cy="274320"/>
          </a:xfrm>
          <a:prstGeom prst="rect">
            <a:avLst/>
          </a:prstGeom>
          <a:noFill/>
        </p:spPr>
        <p:txBody>
          <a:bodyPr wrap="none">
            <a:spAutoFit/>
          </a:bodyPr>
          <a:lstStyle/>
          <a:p>
            <a:pPr algn="r"/>
            <a:r>
              <a:rPr sz="900">
                <a:solidFill>
                  <a:srgbClr val="90A8C4"/>
                </a:solidFill>
                <a:latin typeface="Calibri"/>
              </a:rPr>
              <a:t>9 / 13</a:t>
            </a:r>
          </a:p>
        </p:txBody>
      </p:sp>
      <p:sp>
        <p:nvSpPr>
          <p:cNvPr id="7" name="TextBox 6"/>
          <p:cNvSpPr txBox="1"/>
          <p:nvPr/>
        </p:nvSpPr>
        <p:spPr>
          <a:xfrm>
            <a:off x="731520" y="365760"/>
            <a:ext cx="10698480" cy="640080"/>
          </a:xfrm>
          <a:prstGeom prst="rect">
            <a:avLst/>
          </a:prstGeom>
          <a:noFill/>
        </p:spPr>
        <p:txBody>
          <a:bodyPr wrap="square">
            <a:spAutoFit/>
          </a:bodyPr>
          <a:lstStyle/>
          <a:p>
            <a:pPr algn="l">
              <a:lnSpc>
                <a:spcPts val="3900"/>
              </a:lnSpc>
            </a:pPr>
            <a:r>
              <a:rPr sz="2800" b="1" i="0">
                <a:solidFill>
                  <a:srgbClr val="1B2A4A"/>
                </a:solidFill>
                <a:latin typeface="Calibri"/>
              </a:rPr>
              <a:t>4.) Produit cartésien</a:t>
            </a:r>
          </a:p>
        </p:txBody>
      </p:sp>
      <p:sp>
        <p:nvSpPr>
          <p:cNvPr id="8" name="Rectangle 7"/>
          <p:cNvSpPr/>
          <p:nvPr/>
        </p:nvSpPr>
        <p:spPr>
          <a:xfrm>
            <a:off x="0" y="365760"/>
            <a:ext cx="109728" cy="530352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280160"/>
            <a:ext cx="10515600" cy="548640"/>
          </a:xfrm>
          <a:prstGeom prst="rect">
            <a:avLst/>
          </a:prstGeom>
          <a:noFill/>
        </p:spPr>
        <p:txBody>
          <a:bodyPr wrap="square">
            <a:spAutoFit/>
          </a:bodyPr>
          <a:lstStyle/>
          <a:p>
            <a:pPr algn="l">
              <a:lnSpc>
                <a:spcPts val="2300"/>
              </a:lnSpc>
            </a:pPr>
            <a:r>
              <a:rPr sz="1700" b="0" i="0">
                <a:solidFill>
                  <a:srgbClr val="2D2D2D"/>
                </a:solidFill>
                <a:latin typeface="Calibri"/>
              </a:rPr>
              <a:t>Le produit cartésien associe chaque élément d'un graphe avec tous les éléments d'un autre graphe.</a:t>
            </a:r>
          </a:p>
        </p:txBody>
      </p:sp>
      <p:sp>
        <p:nvSpPr>
          <p:cNvPr id="10" name="Rounded Rectangle 9"/>
          <p:cNvSpPr/>
          <p:nvPr/>
        </p:nvSpPr>
        <p:spPr>
          <a:xfrm>
            <a:off x="731520" y="2011680"/>
            <a:ext cx="10698480" cy="4114800"/>
          </a:xfrm>
          <a:prstGeom prst="round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2011680"/>
            <a:ext cx="64008" cy="411480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194560"/>
            <a:ext cx="10241280" cy="3840480"/>
          </a:xfrm>
          <a:prstGeom prst="rect">
            <a:avLst/>
          </a:prstGeom>
          <a:noFill/>
        </p:spPr>
        <p:txBody>
          <a:bodyPr wrap="square">
            <a:spAutoFit/>
          </a:bodyPr>
          <a:lstStyle/>
          <a:p>
            <a:r>
              <a:rPr sz="1600" b="1">
                <a:solidFill>
                  <a:srgbClr val="1B2A4A"/>
                </a:solidFill>
                <a:latin typeface="Calibri"/>
              </a:rPr>
              <a:t>Exemple :</a:t>
            </a:r>
          </a:p>
          <a:p>
            <a:pPr>
              <a:lnSpc>
                <a:spcPts val="2200"/>
              </a:lnSpc>
              <a:spcBef>
                <a:spcPts val="800"/>
              </a:spcBef>
            </a:pPr>
            <a:r>
              <a:rPr sz="1500" b="1">
                <a:solidFill>
                  <a:srgbClr val="C49A1C"/>
                </a:solidFill>
                <a:latin typeface="Calibri"/>
              </a:rPr>
              <a:t>▸  </a:t>
            </a:r>
            <a:r>
              <a:rPr sz="1500">
                <a:solidFill>
                  <a:srgbClr val="2D2D2D"/>
                </a:solidFill>
                <a:latin typeface="Calibri"/>
              </a:rPr>
              <a:t>Fadal travaille à la boutique A</a:t>
            </a:r>
          </a:p>
          <a:p>
            <a:pPr>
              <a:lnSpc>
                <a:spcPts val="2200"/>
              </a:lnSpc>
              <a:spcBef>
                <a:spcPts val="800"/>
              </a:spcBef>
            </a:pPr>
            <a:r>
              <a:rPr sz="1500" b="1">
                <a:solidFill>
                  <a:srgbClr val="C49A1C"/>
                </a:solidFill>
                <a:latin typeface="Calibri"/>
              </a:rPr>
              <a:t>▸  </a:t>
            </a:r>
            <a:r>
              <a:rPr sz="1500">
                <a:solidFill>
                  <a:srgbClr val="2D2D2D"/>
                </a:solidFill>
                <a:latin typeface="Calibri"/>
              </a:rPr>
              <a:t>Fadal travaille à la boutique B</a:t>
            </a:r>
          </a:p>
          <a:p>
            <a:pPr>
              <a:lnSpc>
                <a:spcPts val="2200"/>
              </a:lnSpc>
              <a:spcBef>
                <a:spcPts val="800"/>
              </a:spcBef>
            </a:pPr>
            <a:r>
              <a:rPr sz="1500" b="1">
                <a:solidFill>
                  <a:srgbClr val="C49A1C"/>
                </a:solidFill>
                <a:latin typeface="Calibri"/>
              </a:rPr>
              <a:t>▸  </a:t>
            </a:r>
            <a:r>
              <a:rPr sz="1500">
                <a:solidFill>
                  <a:srgbClr val="2D2D2D"/>
                </a:solidFill>
                <a:latin typeface="Calibri"/>
              </a:rPr>
              <a:t>Djémila travaille à la boutique A</a:t>
            </a:r>
          </a:p>
          <a:p>
            <a:pPr>
              <a:lnSpc>
                <a:spcPts val="2200"/>
              </a:lnSpc>
              <a:spcBef>
                <a:spcPts val="800"/>
              </a:spcBef>
            </a:pPr>
            <a:r>
              <a:rPr sz="1500" b="1">
                <a:solidFill>
                  <a:srgbClr val="C49A1C"/>
                </a:solidFill>
                <a:latin typeface="Calibri"/>
              </a:rPr>
              <a:t>▸  </a:t>
            </a:r>
            <a:r>
              <a:rPr sz="1500">
                <a:solidFill>
                  <a:srgbClr val="2D2D2D"/>
                </a:solidFill>
                <a:latin typeface="Calibri"/>
              </a:rPr>
              <a:t>Cela permet d'étudier toutes les possibilités de relations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91695" cy="3657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537960"/>
            <a:ext cx="10972800" cy="274320"/>
          </a:xfrm>
          <a:prstGeom prst="rect">
            <a:avLst/>
          </a:prstGeom>
          <a:noFill/>
        </p:spPr>
        <p:txBody>
          <a:bodyPr wrap="none">
            <a:spAutoFit/>
          </a:bodyPr>
          <a:lstStyle/>
          <a:p>
            <a:pPr algn="l"/>
            <a:r>
              <a:rPr sz="900">
                <a:solidFill>
                  <a:srgbClr val="90A8C4"/>
                </a:solidFill>
                <a:latin typeface="Calibri"/>
              </a:rPr>
              <a:t>Graphe de connaissances : Modélisation d'un quartier</a:t>
            </a:r>
          </a:p>
        </p:txBody>
      </p:sp>
      <p:sp>
        <p:nvSpPr>
          <p:cNvPr id="6" name="TextBox 5"/>
          <p:cNvSpPr txBox="1"/>
          <p:nvPr/>
        </p:nvSpPr>
        <p:spPr>
          <a:xfrm>
            <a:off x="10515600" y="6537960"/>
            <a:ext cx="1371600" cy="274320"/>
          </a:xfrm>
          <a:prstGeom prst="rect">
            <a:avLst/>
          </a:prstGeom>
          <a:noFill/>
        </p:spPr>
        <p:txBody>
          <a:bodyPr wrap="none">
            <a:spAutoFit/>
          </a:bodyPr>
          <a:lstStyle/>
          <a:p>
            <a:pPr algn="r"/>
            <a:r>
              <a:rPr sz="900">
                <a:solidFill>
                  <a:srgbClr val="90A8C4"/>
                </a:solidFill>
                <a:latin typeface="Calibri"/>
              </a:rPr>
              <a:t>10 / 13</a:t>
            </a:r>
          </a:p>
        </p:txBody>
      </p:sp>
      <p:sp>
        <p:nvSpPr>
          <p:cNvPr id="7" name="TextBox 6"/>
          <p:cNvSpPr txBox="1"/>
          <p:nvPr/>
        </p:nvSpPr>
        <p:spPr>
          <a:xfrm>
            <a:off x="731520" y="365760"/>
            <a:ext cx="10698480" cy="640080"/>
          </a:xfrm>
          <a:prstGeom prst="rect">
            <a:avLst/>
          </a:prstGeom>
          <a:noFill/>
        </p:spPr>
        <p:txBody>
          <a:bodyPr wrap="square">
            <a:spAutoFit/>
          </a:bodyPr>
          <a:lstStyle/>
          <a:p>
            <a:pPr algn="l">
              <a:lnSpc>
                <a:spcPts val="3900"/>
              </a:lnSpc>
            </a:pPr>
            <a:r>
              <a:rPr sz="2800" b="1" i="0">
                <a:solidFill>
                  <a:srgbClr val="1B2A4A"/>
                </a:solidFill>
                <a:latin typeface="Calibri"/>
              </a:rPr>
              <a:t>5.) Produit tensoriel</a:t>
            </a:r>
          </a:p>
        </p:txBody>
      </p:sp>
      <p:sp>
        <p:nvSpPr>
          <p:cNvPr id="8" name="Rectangle 7"/>
          <p:cNvSpPr/>
          <p:nvPr/>
        </p:nvSpPr>
        <p:spPr>
          <a:xfrm>
            <a:off x="0" y="365760"/>
            <a:ext cx="109728" cy="530352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280160"/>
            <a:ext cx="10515600" cy="548640"/>
          </a:xfrm>
          <a:prstGeom prst="rect">
            <a:avLst/>
          </a:prstGeom>
          <a:noFill/>
        </p:spPr>
        <p:txBody>
          <a:bodyPr wrap="square">
            <a:spAutoFit/>
          </a:bodyPr>
          <a:lstStyle/>
          <a:p>
            <a:pPr algn="l">
              <a:lnSpc>
                <a:spcPts val="2300"/>
              </a:lnSpc>
            </a:pPr>
            <a:r>
              <a:rPr sz="1700" b="0" i="0">
                <a:solidFill>
                  <a:srgbClr val="2D2D2D"/>
                </a:solidFill>
                <a:latin typeface="Calibri"/>
              </a:rPr>
              <a:t>Le produit tensoriel combine deux graphes en créant de nouvelles relations entre leurs nœuds et leurs liens.</a:t>
            </a:r>
          </a:p>
        </p:txBody>
      </p:sp>
      <p:sp>
        <p:nvSpPr>
          <p:cNvPr id="10" name="Rounded Rectangle 9"/>
          <p:cNvSpPr/>
          <p:nvPr/>
        </p:nvSpPr>
        <p:spPr>
          <a:xfrm>
            <a:off x="731520" y="2011680"/>
            <a:ext cx="10698480" cy="4114800"/>
          </a:xfrm>
          <a:prstGeom prst="round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2011680"/>
            <a:ext cx="64008" cy="411480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194560"/>
            <a:ext cx="10241280" cy="3840480"/>
          </a:xfrm>
          <a:prstGeom prst="rect">
            <a:avLst/>
          </a:prstGeom>
          <a:noFill/>
        </p:spPr>
        <p:txBody>
          <a:bodyPr wrap="square">
            <a:spAutoFit/>
          </a:bodyPr>
          <a:lstStyle/>
          <a:p>
            <a:r>
              <a:rPr sz="1600" b="1">
                <a:solidFill>
                  <a:srgbClr val="1B2A4A"/>
                </a:solidFill>
                <a:latin typeface="Calibri"/>
              </a:rPr>
              <a:t>Application :</a:t>
            </a:r>
          </a:p>
          <a:p>
            <a:pPr>
              <a:lnSpc>
                <a:spcPts val="2200"/>
              </a:lnSpc>
              <a:spcBef>
                <a:spcPts val="800"/>
              </a:spcBef>
            </a:pPr>
            <a:r>
              <a:rPr sz="1500" b="1">
                <a:solidFill>
                  <a:srgbClr val="C49A1C"/>
                </a:solidFill>
                <a:latin typeface="Calibri"/>
              </a:rPr>
              <a:t>▸  </a:t>
            </a:r>
            <a:r>
              <a:rPr sz="1500">
                <a:solidFill>
                  <a:srgbClr val="2D2D2D"/>
                </a:solidFill>
                <a:latin typeface="Calibri"/>
              </a:rPr>
              <a:t>Dans notre exemple, on peut combiner : le graphe des habitants et le graphe des infrastructures pour analyser en même temps : qui utilise quoi et comment les services du quartier sont utilisés.</a:t>
            </a:r>
          </a:p>
          <a:p>
            <a:pPr>
              <a:lnSpc>
                <a:spcPts val="2200"/>
              </a:lnSpc>
              <a:spcBef>
                <a:spcPts val="800"/>
              </a:spcBef>
            </a:pPr>
            <a:r>
              <a:rPr sz="1500" b="1">
                <a:solidFill>
                  <a:srgbClr val="C49A1C"/>
                </a:solidFill>
                <a:latin typeface="Calibri"/>
              </a:rPr>
              <a:t>▸  </a:t>
            </a:r>
            <a:r>
              <a:rPr sz="1500">
                <a:solidFill>
                  <a:srgbClr val="2D2D2D"/>
                </a:solidFill>
                <a:latin typeface="Calibri"/>
              </a:rPr>
              <a:t>Habitant + École → fréquentation + distance + accessibilité</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91695" cy="3657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537960"/>
            <a:ext cx="10972800" cy="274320"/>
          </a:xfrm>
          <a:prstGeom prst="rect">
            <a:avLst/>
          </a:prstGeom>
          <a:noFill/>
        </p:spPr>
        <p:txBody>
          <a:bodyPr wrap="none">
            <a:spAutoFit/>
          </a:bodyPr>
          <a:lstStyle/>
          <a:p>
            <a:pPr algn="l"/>
            <a:r>
              <a:rPr sz="900">
                <a:solidFill>
                  <a:srgbClr val="90A8C4"/>
                </a:solidFill>
                <a:latin typeface="Calibri"/>
              </a:rPr>
              <a:t>Graphe de connaissances : Modélisation d'un quartier</a:t>
            </a:r>
          </a:p>
        </p:txBody>
      </p:sp>
      <p:sp>
        <p:nvSpPr>
          <p:cNvPr id="6" name="TextBox 5"/>
          <p:cNvSpPr txBox="1"/>
          <p:nvPr/>
        </p:nvSpPr>
        <p:spPr>
          <a:xfrm>
            <a:off x="10515600" y="6537960"/>
            <a:ext cx="1371600" cy="274320"/>
          </a:xfrm>
          <a:prstGeom prst="rect">
            <a:avLst/>
          </a:prstGeom>
          <a:noFill/>
        </p:spPr>
        <p:txBody>
          <a:bodyPr wrap="none">
            <a:spAutoFit/>
          </a:bodyPr>
          <a:lstStyle/>
          <a:p>
            <a:pPr algn="r"/>
            <a:r>
              <a:rPr sz="900">
                <a:solidFill>
                  <a:srgbClr val="90A8C4"/>
                </a:solidFill>
                <a:latin typeface="Calibri"/>
              </a:rPr>
              <a:t>11 / 13</a:t>
            </a:r>
          </a:p>
        </p:txBody>
      </p:sp>
      <p:sp>
        <p:nvSpPr>
          <p:cNvPr id="7" name="TextBox 6"/>
          <p:cNvSpPr txBox="1"/>
          <p:nvPr/>
        </p:nvSpPr>
        <p:spPr>
          <a:xfrm>
            <a:off x="731520" y="365760"/>
            <a:ext cx="10698480" cy="640080"/>
          </a:xfrm>
          <a:prstGeom prst="rect">
            <a:avLst/>
          </a:prstGeom>
          <a:noFill/>
        </p:spPr>
        <p:txBody>
          <a:bodyPr wrap="square">
            <a:spAutoFit/>
          </a:bodyPr>
          <a:lstStyle/>
          <a:p>
            <a:pPr algn="l">
              <a:lnSpc>
                <a:spcPts val="3900"/>
              </a:lnSpc>
            </a:pPr>
            <a:r>
              <a:rPr sz="2800" b="1" i="0">
                <a:solidFill>
                  <a:srgbClr val="1B2A4A"/>
                </a:solidFill>
                <a:latin typeface="Calibri"/>
              </a:rPr>
              <a:t>6.) Observation</a:t>
            </a:r>
          </a:p>
        </p:txBody>
      </p:sp>
      <p:sp>
        <p:nvSpPr>
          <p:cNvPr id="8" name="Rectangle 7"/>
          <p:cNvSpPr/>
          <p:nvPr/>
        </p:nvSpPr>
        <p:spPr>
          <a:xfrm>
            <a:off x="0" y="365760"/>
            <a:ext cx="109728" cy="530352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280160"/>
            <a:ext cx="10515600" cy="731520"/>
          </a:xfrm>
          <a:prstGeom prst="rect">
            <a:avLst/>
          </a:prstGeom>
          <a:noFill/>
        </p:spPr>
        <p:txBody>
          <a:bodyPr wrap="square">
            <a:spAutoFit/>
          </a:bodyPr>
          <a:lstStyle/>
          <a:p>
            <a:pPr algn="l">
              <a:lnSpc>
                <a:spcPts val="2300"/>
              </a:lnSpc>
            </a:pPr>
            <a:r>
              <a:rPr sz="1700" b="0" i="0">
                <a:solidFill>
                  <a:srgbClr val="2D2D2D"/>
                </a:solidFill>
                <a:latin typeface="Calibri"/>
              </a:rPr>
              <a:t>Dans notre cas l'utilisation des opérateurs sur les graphes permet d'analyser un quartier de différentes manières à savoirs :</a:t>
            </a:r>
          </a:p>
        </p:txBody>
      </p:sp>
      <p:sp>
        <p:nvSpPr>
          <p:cNvPr id="10" name="Rounded Rectangle 9"/>
          <p:cNvSpPr/>
          <p:nvPr/>
        </p:nvSpPr>
        <p:spPr>
          <a:xfrm>
            <a:off x="731520" y="2560320"/>
            <a:ext cx="2468880" cy="2743200"/>
          </a:xfrm>
          <a:prstGeom prst="round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2560320"/>
            <a:ext cx="2468880" cy="45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2834640"/>
            <a:ext cx="2194560" cy="640080"/>
          </a:xfrm>
          <a:prstGeom prst="rect">
            <a:avLst/>
          </a:prstGeom>
          <a:noFill/>
        </p:spPr>
        <p:txBody>
          <a:bodyPr wrap="square">
            <a:spAutoFit/>
          </a:bodyPr>
          <a:lstStyle/>
          <a:p>
            <a:pPr algn="ctr"/>
            <a:r>
              <a:rPr sz="1500" b="1">
                <a:solidFill>
                  <a:srgbClr val="1B2A4A"/>
                </a:solidFill>
                <a:latin typeface="Calibri"/>
              </a:rPr>
              <a:t>Comparaison</a:t>
            </a:r>
          </a:p>
        </p:txBody>
      </p:sp>
      <p:sp>
        <p:nvSpPr>
          <p:cNvPr id="13" name="TextBox 12"/>
          <p:cNvSpPr txBox="1"/>
          <p:nvPr/>
        </p:nvSpPr>
        <p:spPr>
          <a:xfrm>
            <a:off x="868680" y="3657600"/>
            <a:ext cx="2194560" cy="1371600"/>
          </a:xfrm>
          <a:prstGeom prst="rect">
            <a:avLst/>
          </a:prstGeom>
          <a:noFill/>
        </p:spPr>
        <p:txBody>
          <a:bodyPr wrap="square">
            <a:spAutoFit/>
          </a:bodyPr>
          <a:lstStyle/>
          <a:p>
            <a:pPr algn="ctr">
              <a:lnSpc>
                <a:spcPts val="2000"/>
              </a:lnSpc>
            </a:pPr>
            <a:r>
              <a:rPr sz="1200">
                <a:solidFill>
                  <a:srgbClr val="555555"/>
                </a:solidFill>
                <a:latin typeface="Calibri"/>
              </a:rPr>
              <a:t>Comparer les structures de
deux quartiers</a:t>
            </a:r>
          </a:p>
        </p:txBody>
      </p:sp>
      <p:sp>
        <p:nvSpPr>
          <p:cNvPr id="14" name="Rounded Rectangle 13"/>
          <p:cNvSpPr/>
          <p:nvPr/>
        </p:nvSpPr>
        <p:spPr>
          <a:xfrm>
            <a:off x="3429000" y="2560320"/>
            <a:ext cx="2468880" cy="2743200"/>
          </a:xfrm>
          <a:prstGeom prst="round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429000" y="2560320"/>
            <a:ext cx="2468880" cy="45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66160" y="2834640"/>
            <a:ext cx="2194560" cy="640080"/>
          </a:xfrm>
          <a:prstGeom prst="rect">
            <a:avLst/>
          </a:prstGeom>
          <a:noFill/>
        </p:spPr>
        <p:txBody>
          <a:bodyPr wrap="square">
            <a:spAutoFit/>
          </a:bodyPr>
          <a:lstStyle/>
          <a:p>
            <a:pPr algn="ctr"/>
            <a:r>
              <a:rPr sz="1500" b="1">
                <a:solidFill>
                  <a:srgbClr val="1B2A4A"/>
                </a:solidFill>
                <a:latin typeface="Calibri"/>
              </a:rPr>
              <a:t>Fusion</a:t>
            </a:r>
          </a:p>
        </p:txBody>
      </p:sp>
      <p:sp>
        <p:nvSpPr>
          <p:cNvPr id="17" name="TextBox 16"/>
          <p:cNvSpPr txBox="1"/>
          <p:nvPr/>
        </p:nvSpPr>
        <p:spPr>
          <a:xfrm>
            <a:off x="3566160" y="3657600"/>
            <a:ext cx="2194560" cy="1371600"/>
          </a:xfrm>
          <a:prstGeom prst="rect">
            <a:avLst/>
          </a:prstGeom>
          <a:noFill/>
        </p:spPr>
        <p:txBody>
          <a:bodyPr wrap="square">
            <a:spAutoFit/>
          </a:bodyPr>
          <a:lstStyle/>
          <a:p>
            <a:pPr algn="ctr">
              <a:lnSpc>
                <a:spcPts val="2000"/>
              </a:lnSpc>
            </a:pPr>
            <a:r>
              <a:rPr sz="1200">
                <a:solidFill>
                  <a:srgbClr val="555555"/>
                </a:solidFill>
                <a:latin typeface="Calibri"/>
              </a:rPr>
              <a:t>Combiner les informations
de plusieurs sources</a:t>
            </a:r>
          </a:p>
        </p:txBody>
      </p:sp>
      <p:sp>
        <p:nvSpPr>
          <p:cNvPr id="18" name="Rounded Rectangle 17"/>
          <p:cNvSpPr/>
          <p:nvPr/>
        </p:nvSpPr>
        <p:spPr>
          <a:xfrm>
            <a:off x="6126480" y="2560320"/>
            <a:ext cx="2468880" cy="2743200"/>
          </a:xfrm>
          <a:prstGeom prst="round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26480" y="2560320"/>
            <a:ext cx="2468880" cy="45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3640" y="2834640"/>
            <a:ext cx="2194560" cy="640080"/>
          </a:xfrm>
          <a:prstGeom prst="rect">
            <a:avLst/>
          </a:prstGeom>
          <a:noFill/>
        </p:spPr>
        <p:txBody>
          <a:bodyPr wrap="square">
            <a:spAutoFit/>
          </a:bodyPr>
          <a:lstStyle/>
          <a:p>
            <a:pPr algn="ctr"/>
            <a:r>
              <a:rPr sz="1500" b="1">
                <a:solidFill>
                  <a:srgbClr val="1B2A4A"/>
                </a:solidFill>
                <a:latin typeface="Calibri"/>
              </a:rPr>
              <a:t>Association</a:t>
            </a:r>
          </a:p>
        </p:txBody>
      </p:sp>
      <p:sp>
        <p:nvSpPr>
          <p:cNvPr id="21" name="TextBox 20"/>
          <p:cNvSpPr txBox="1"/>
          <p:nvPr/>
        </p:nvSpPr>
        <p:spPr>
          <a:xfrm>
            <a:off x="6263640" y="3657600"/>
            <a:ext cx="2194560" cy="1371600"/>
          </a:xfrm>
          <a:prstGeom prst="rect">
            <a:avLst/>
          </a:prstGeom>
          <a:noFill/>
        </p:spPr>
        <p:txBody>
          <a:bodyPr wrap="square">
            <a:spAutoFit/>
          </a:bodyPr>
          <a:lstStyle/>
          <a:p>
            <a:pPr algn="ctr">
              <a:lnSpc>
                <a:spcPts val="2000"/>
              </a:lnSpc>
            </a:pPr>
            <a:r>
              <a:rPr sz="1200">
                <a:solidFill>
                  <a:srgbClr val="555555"/>
                </a:solidFill>
                <a:latin typeface="Calibri"/>
              </a:rPr>
              <a:t>Relier les entités via
des nœuds communs</a:t>
            </a:r>
          </a:p>
        </p:txBody>
      </p:sp>
      <p:sp>
        <p:nvSpPr>
          <p:cNvPr id="22" name="Rounded Rectangle 21"/>
          <p:cNvSpPr/>
          <p:nvPr/>
        </p:nvSpPr>
        <p:spPr>
          <a:xfrm>
            <a:off x="8823960" y="2560320"/>
            <a:ext cx="2468880" cy="2743200"/>
          </a:xfrm>
          <a:prstGeom prst="round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823960" y="2560320"/>
            <a:ext cx="2468880" cy="45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0" y="2834640"/>
            <a:ext cx="2194560" cy="640080"/>
          </a:xfrm>
          <a:prstGeom prst="rect">
            <a:avLst/>
          </a:prstGeom>
          <a:noFill/>
        </p:spPr>
        <p:txBody>
          <a:bodyPr wrap="square">
            <a:spAutoFit/>
          </a:bodyPr>
          <a:lstStyle/>
          <a:p>
            <a:pPr algn="ctr"/>
            <a:r>
              <a:rPr sz="1500" b="1">
                <a:solidFill>
                  <a:srgbClr val="1B2A4A"/>
                </a:solidFill>
                <a:latin typeface="Calibri"/>
              </a:rPr>
              <a:t>Analyse des
relations</a:t>
            </a:r>
          </a:p>
        </p:txBody>
      </p:sp>
      <p:sp>
        <p:nvSpPr>
          <p:cNvPr id="25" name="TextBox 24"/>
          <p:cNvSpPr txBox="1"/>
          <p:nvPr/>
        </p:nvSpPr>
        <p:spPr>
          <a:xfrm>
            <a:off x="8961120" y="3657600"/>
            <a:ext cx="2194560" cy="1371600"/>
          </a:xfrm>
          <a:prstGeom prst="rect">
            <a:avLst/>
          </a:prstGeom>
          <a:noFill/>
        </p:spPr>
        <p:txBody>
          <a:bodyPr wrap="square">
            <a:spAutoFit/>
          </a:bodyPr>
          <a:lstStyle/>
          <a:p>
            <a:pPr algn="ctr">
              <a:lnSpc>
                <a:spcPts val="2000"/>
              </a:lnSpc>
            </a:pPr>
            <a:r>
              <a:rPr sz="1200">
                <a:solidFill>
                  <a:srgbClr val="555555"/>
                </a:solidFill>
                <a:latin typeface="Calibri"/>
              </a:rPr>
              <a:t>Étudier les connexions entre
habitants et infrastructures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97152"/>
            <a:ext cx="10698480" cy="822960"/>
          </a:xfrm>
          <a:prstGeom prst="rect">
            <a:avLst/>
          </a:prstGeom>
          <a:noFill/>
        </p:spPr>
        <p:txBody>
          <a:bodyPr wrap="square">
            <a:spAutoFit/>
          </a:bodyPr>
          <a:lstStyle/>
          <a:p>
            <a:pPr algn="ctr">
              <a:lnSpc>
                <a:spcPts val="4200"/>
              </a:lnSpc>
            </a:pPr>
            <a:r>
              <a:rPr sz="3000" b="1" i="0" dirty="0" err="1">
                <a:solidFill>
                  <a:srgbClr val="FFFFFF"/>
                </a:solidFill>
                <a:latin typeface="Calibri"/>
              </a:rPr>
              <a:t>Graphe</a:t>
            </a:r>
            <a:r>
              <a:rPr sz="3000" b="1" i="0" dirty="0">
                <a:solidFill>
                  <a:srgbClr val="FFFFFF"/>
                </a:solidFill>
                <a:latin typeface="Calibri"/>
              </a:rPr>
              <a:t> de </a:t>
            </a:r>
            <a:r>
              <a:rPr sz="3000" b="1" i="0" dirty="0" err="1">
                <a:solidFill>
                  <a:srgbClr val="FFFFFF"/>
                </a:solidFill>
                <a:latin typeface="Calibri"/>
              </a:rPr>
              <a:t>connaissance</a:t>
            </a:r>
            <a:r>
              <a:rPr sz="3000" b="1" i="0" dirty="0">
                <a:solidFill>
                  <a:srgbClr val="FFFFFF"/>
                </a:solidFill>
                <a:latin typeface="Calibri"/>
              </a:rPr>
              <a:t> d'un quartier</a:t>
            </a:r>
          </a:p>
        </p:txBody>
      </p:sp>
      <p:sp>
        <p:nvSpPr>
          <p:cNvPr id="4" name="Rectangle 3"/>
          <p:cNvSpPr/>
          <p:nvPr/>
        </p:nvSpPr>
        <p:spPr>
          <a:xfrm>
            <a:off x="0" y="1051560"/>
            <a:ext cx="12191695" cy="36576"/>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4.png"/>
          <p:cNvPicPr>
            <a:picLocks noChangeAspect="1"/>
          </p:cNvPicPr>
          <p:nvPr/>
        </p:nvPicPr>
        <p:blipFill>
          <a:blip r:embed="rId2"/>
          <a:stretch>
            <a:fillRect/>
          </a:stretch>
        </p:blipFill>
        <p:spPr>
          <a:xfrm>
            <a:off x="1" y="802944"/>
            <a:ext cx="12191694" cy="5835253"/>
          </a:xfrm>
          <a:prstGeom prst="rect">
            <a:avLst/>
          </a:prstGeom>
        </p:spPr>
      </p:pic>
      <p:sp>
        <p:nvSpPr>
          <p:cNvPr id="6" name="Rectangle 5"/>
          <p:cNvSpPr/>
          <p:nvPr/>
        </p:nvSpPr>
        <p:spPr>
          <a:xfrm>
            <a:off x="0" y="6492240"/>
            <a:ext cx="12191695" cy="3657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37960"/>
            <a:ext cx="10972800" cy="274320"/>
          </a:xfrm>
          <a:prstGeom prst="rect">
            <a:avLst/>
          </a:prstGeom>
          <a:noFill/>
        </p:spPr>
        <p:txBody>
          <a:bodyPr wrap="none">
            <a:spAutoFit/>
          </a:bodyPr>
          <a:lstStyle/>
          <a:p>
            <a:pPr algn="l"/>
            <a:r>
              <a:rPr sz="900">
                <a:solidFill>
                  <a:srgbClr val="90A8C4"/>
                </a:solidFill>
                <a:latin typeface="Calibri"/>
              </a:rPr>
              <a:t>Graphe de connaissances : Modélisation d'un quartier</a:t>
            </a:r>
          </a:p>
        </p:txBody>
      </p:sp>
      <p:sp>
        <p:nvSpPr>
          <p:cNvPr id="8" name="TextBox 7"/>
          <p:cNvSpPr txBox="1"/>
          <p:nvPr/>
        </p:nvSpPr>
        <p:spPr>
          <a:xfrm>
            <a:off x="10515600" y="6537960"/>
            <a:ext cx="1371600" cy="274320"/>
          </a:xfrm>
          <a:prstGeom prst="rect">
            <a:avLst/>
          </a:prstGeom>
          <a:noFill/>
        </p:spPr>
        <p:txBody>
          <a:bodyPr wrap="none">
            <a:spAutoFit/>
          </a:bodyPr>
          <a:lstStyle/>
          <a:p>
            <a:pPr algn="r"/>
            <a:r>
              <a:rPr sz="900">
                <a:solidFill>
                  <a:srgbClr val="90A8C4"/>
                </a:solidFill>
                <a:latin typeface="Calibri"/>
              </a:rPr>
              <a:t>12 / 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1828800"/>
          </a:xfrm>
          <a:prstGeom prst="rect">
            <a:avLst/>
          </a:prstGeom>
          <a:solidFill>
            <a:srgbClr val="111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828800"/>
            <a:ext cx="12191695" cy="45720"/>
          </a:xfrm>
          <a:prstGeom prst="rect">
            <a:avLst/>
          </a:prstGeom>
          <a:solidFill>
            <a:srgbClr val="C49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914400"/>
          </a:xfrm>
          <a:prstGeom prst="rect">
            <a:avLst/>
          </a:prstGeom>
          <a:noFill/>
        </p:spPr>
        <p:txBody>
          <a:bodyPr wrap="square">
            <a:spAutoFit/>
          </a:bodyPr>
          <a:lstStyle/>
          <a:p>
            <a:pPr algn="ctr">
              <a:lnSpc>
                <a:spcPts val="4700"/>
              </a:lnSpc>
            </a:pPr>
            <a:r>
              <a:rPr sz="3400" b="1" i="0">
                <a:solidFill>
                  <a:srgbClr val="FFFFFF"/>
                </a:solidFill>
                <a:latin typeface="Calibri"/>
              </a:rPr>
              <a:t>Conclusion</a:t>
            </a:r>
          </a:p>
        </p:txBody>
      </p:sp>
      <p:sp>
        <p:nvSpPr>
          <p:cNvPr id="6" name="TextBox 5"/>
          <p:cNvSpPr txBox="1"/>
          <p:nvPr/>
        </p:nvSpPr>
        <p:spPr>
          <a:xfrm>
            <a:off x="731520" y="2286000"/>
            <a:ext cx="10698480" cy="1371600"/>
          </a:xfrm>
          <a:prstGeom prst="rect">
            <a:avLst/>
          </a:prstGeom>
          <a:noFill/>
        </p:spPr>
        <p:txBody>
          <a:bodyPr wrap="square">
            <a:spAutoFit/>
          </a:bodyPr>
          <a:lstStyle/>
          <a:p>
            <a:pPr algn="l">
              <a:lnSpc>
                <a:spcPts val="2800"/>
              </a:lnSpc>
            </a:pPr>
            <a:r>
              <a:rPr sz="1800" b="0" i="0">
                <a:solidFill>
                  <a:srgbClr val="2D2D2D"/>
                </a:solidFill>
                <a:latin typeface="Calibri"/>
              </a:rPr>
              <a:t>Le graphe de connaissances permet de représenter les différentes entités d'un quartier ainsi que les relations qui existent entre elles. Cette modélisation facilite l'organisation, la recherche et l'analyse des informations. Elle peut être utilisée dans les domaines de l'urbanisation, la gestion municipale, la sécurité ou encore des services publics.</a:t>
            </a:r>
          </a:p>
        </p:txBody>
      </p:sp>
      <p:sp>
        <p:nvSpPr>
          <p:cNvPr id="7" name="TextBox 6"/>
          <p:cNvSpPr txBox="1"/>
          <p:nvPr/>
        </p:nvSpPr>
        <p:spPr>
          <a:xfrm>
            <a:off x="731520" y="3931920"/>
            <a:ext cx="10698480" cy="457200"/>
          </a:xfrm>
          <a:prstGeom prst="rect">
            <a:avLst/>
          </a:prstGeom>
          <a:noFill/>
        </p:spPr>
        <p:txBody>
          <a:bodyPr wrap="square">
            <a:spAutoFit/>
          </a:bodyPr>
          <a:lstStyle/>
          <a:p>
            <a:pPr algn="l">
              <a:lnSpc>
                <a:spcPts val="2300"/>
              </a:lnSpc>
            </a:pPr>
            <a:r>
              <a:rPr sz="1700" b="1" i="0">
                <a:solidFill>
                  <a:srgbClr val="1B2A4A"/>
                </a:solidFill>
                <a:latin typeface="Calibri"/>
              </a:rPr>
              <a:t>Domaines d'application :</a:t>
            </a:r>
          </a:p>
        </p:txBody>
      </p:sp>
      <p:sp>
        <p:nvSpPr>
          <p:cNvPr id="8" name="Rounded Rectangle 7"/>
          <p:cNvSpPr/>
          <p:nvPr/>
        </p:nvSpPr>
        <p:spPr>
          <a:xfrm>
            <a:off x="731520" y="4480560"/>
            <a:ext cx="2468880" cy="1188720"/>
          </a:xfrm>
          <a:prstGeom prst="round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4480560"/>
            <a:ext cx="2468880" cy="36576"/>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663440"/>
            <a:ext cx="2194560" cy="822960"/>
          </a:xfrm>
          <a:prstGeom prst="rect">
            <a:avLst/>
          </a:prstGeom>
          <a:noFill/>
        </p:spPr>
        <p:txBody>
          <a:bodyPr wrap="square">
            <a:spAutoFit/>
          </a:bodyPr>
          <a:lstStyle/>
          <a:p>
            <a:pPr algn="ctr"/>
            <a:r>
              <a:rPr sz="1300">
                <a:solidFill>
                  <a:srgbClr val="2D2D2D"/>
                </a:solidFill>
                <a:latin typeface="Calibri"/>
              </a:rPr>
              <a:t>Urbanisation et planification urbaine</a:t>
            </a:r>
          </a:p>
        </p:txBody>
      </p:sp>
      <p:sp>
        <p:nvSpPr>
          <p:cNvPr id="11" name="Rounded Rectangle 10"/>
          <p:cNvSpPr/>
          <p:nvPr/>
        </p:nvSpPr>
        <p:spPr>
          <a:xfrm>
            <a:off x="3429000" y="4480560"/>
            <a:ext cx="2468880" cy="1188720"/>
          </a:xfrm>
          <a:prstGeom prst="round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29000" y="4480560"/>
            <a:ext cx="2468880" cy="36576"/>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66160" y="4663440"/>
            <a:ext cx="2194560" cy="822960"/>
          </a:xfrm>
          <a:prstGeom prst="rect">
            <a:avLst/>
          </a:prstGeom>
          <a:noFill/>
        </p:spPr>
        <p:txBody>
          <a:bodyPr wrap="square">
            <a:spAutoFit/>
          </a:bodyPr>
          <a:lstStyle/>
          <a:p>
            <a:pPr algn="ctr"/>
            <a:r>
              <a:rPr sz="1300">
                <a:solidFill>
                  <a:srgbClr val="2D2D2D"/>
                </a:solidFill>
                <a:latin typeface="Calibri"/>
              </a:rPr>
              <a:t>Gestion municipale et administrative</a:t>
            </a:r>
          </a:p>
        </p:txBody>
      </p:sp>
      <p:sp>
        <p:nvSpPr>
          <p:cNvPr id="14" name="Rounded Rectangle 13"/>
          <p:cNvSpPr/>
          <p:nvPr/>
        </p:nvSpPr>
        <p:spPr>
          <a:xfrm>
            <a:off x="6126480" y="4480560"/>
            <a:ext cx="2468880" cy="1188720"/>
          </a:xfrm>
          <a:prstGeom prst="round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0" y="4480560"/>
            <a:ext cx="2468880" cy="36576"/>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63640" y="4663440"/>
            <a:ext cx="2194560" cy="822960"/>
          </a:xfrm>
          <a:prstGeom prst="rect">
            <a:avLst/>
          </a:prstGeom>
          <a:noFill/>
        </p:spPr>
        <p:txBody>
          <a:bodyPr wrap="square">
            <a:spAutoFit/>
          </a:bodyPr>
          <a:lstStyle/>
          <a:p>
            <a:pPr algn="ctr"/>
            <a:r>
              <a:rPr sz="1300">
                <a:solidFill>
                  <a:srgbClr val="2D2D2D"/>
                </a:solidFill>
                <a:latin typeface="Calibri"/>
              </a:rPr>
              <a:t>Sécurité et surveillance du quartier</a:t>
            </a:r>
          </a:p>
        </p:txBody>
      </p:sp>
      <p:sp>
        <p:nvSpPr>
          <p:cNvPr id="17" name="Rounded Rectangle 16"/>
          <p:cNvSpPr/>
          <p:nvPr/>
        </p:nvSpPr>
        <p:spPr>
          <a:xfrm>
            <a:off x="8823960" y="4480560"/>
            <a:ext cx="2468880" cy="1188720"/>
          </a:xfrm>
          <a:prstGeom prst="roundRect">
            <a:avLst/>
          </a:prstGeom>
          <a:solidFill>
            <a:srgbClr val="FFFFFF"/>
          </a:solidFill>
          <a:ln w="1270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823960" y="4480560"/>
            <a:ext cx="2468880" cy="36576"/>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0" y="4663440"/>
            <a:ext cx="2194560" cy="822960"/>
          </a:xfrm>
          <a:prstGeom prst="rect">
            <a:avLst/>
          </a:prstGeom>
          <a:noFill/>
        </p:spPr>
        <p:txBody>
          <a:bodyPr wrap="square">
            <a:spAutoFit/>
          </a:bodyPr>
          <a:lstStyle/>
          <a:p>
            <a:pPr algn="ctr"/>
            <a:r>
              <a:rPr sz="1300">
                <a:solidFill>
                  <a:srgbClr val="2D2D2D"/>
                </a:solidFill>
                <a:latin typeface="Calibri"/>
              </a:rPr>
              <a:t>Gestion des services publics</a:t>
            </a:r>
          </a:p>
        </p:txBody>
      </p:sp>
      <p:sp>
        <p:nvSpPr>
          <p:cNvPr id="20" name="Rectangle 19"/>
          <p:cNvSpPr/>
          <p:nvPr/>
        </p:nvSpPr>
        <p:spPr>
          <a:xfrm>
            <a:off x="0" y="6492240"/>
            <a:ext cx="12191695" cy="3657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a:hlinkClick r:id="rId3"/>
              </a:rPr>
              <a:t>Voir le dépôt GitHub</a:t>
            </a:r>
            <a:endParaRPr dirty="0"/>
          </a:p>
        </p:txBody>
      </p:sp>
      <p:sp>
        <p:nvSpPr>
          <p:cNvPr id="21" name="TextBox 20"/>
          <p:cNvSpPr txBox="1"/>
          <p:nvPr/>
        </p:nvSpPr>
        <p:spPr>
          <a:xfrm>
            <a:off x="154305" y="6519672"/>
            <a:ext cx="3274695" cy="230832"/>
          </a:xfrm>
          <a:prstGeom prst="rect">
            <a:avLst/>
          </a:prstGeom>
          <a:noFill/>
        </p:spPr>
        <p:txBody>
          <a:bodyPr wrap="square">
            <a:spAutoFit/>
          </a:bodyPr>
          <a:lstStyle/>
          <a:p>
            <a:pPr algn="l"/>
            <a:r>
              <a:rPr sz="900" dirty="0" err="1">
                <a:solidFill>
                  <a:srgbClr val="90A8C4"/>
                </a:solidFill>
                <a:latin typeface="Calibri"/>
              </a:rPr>
              <a:t>Graphe</a:t>
            </a:r>
            <a:r>
              <a:rPr sz="900" dirty="0">
                <a:solidFill>
                  <a:srgbClr val="90A8C4"/>
                </a:solidFill>
                <a:latin typeface="Calibri"/>
              </a:rPr>
              <a:t> de </a:t>
            </a:r>
            <a:r>
              <a:rPr sz="900" dirty="0" err="1">
                <a:solidFill>
                  <a:srgbClr val="90A8C4"/>
                </a:solidFill>
                <a:latin typeface="Calibri"/>
              </a:rPr>
              <a:t>connaissances</a:t>
            </a:r>
            <a:r>
              <a:rPr sz="900" dirty="0">
                <a:solidFill>
                  <a:srgbClr val="90A8C4"/>
                </a:solidFill>
                <a:latin typeface="Calibri"/>
              </a:rPr>
              <a:t> : </a:t>
            </a:r>
            <a:r>
              <a:rPr sz="900" dirty="0" err="1">
                <a:solidFill>
                  <a:srgbClr val="90A8C4"/>
                </a:solidFill>
                <a:latin typeface="Calibri"/>
              </a:rPr>
              <a:t>Modélisation</a:t>
            </a:r>
            <a:r>
              <a:rPr sz="900" dirty="0">
                <a:solidFill>
                  <a:srgbClr val="90A8C4"/>
                </a:solidFill>
                <a:latin typeface="Calibri"/>
              </a:rPr>
              <a:t> d'un quartier</a:t>
            </a:r>
          </a:p>
        </p:txBody>
      </p:sp>
      <p:sp>
        <p:nvSpPr>
          <p:cNvPr id="22" name="TextBox 21"/>
          <p:cNvSpPr txBox="1"/>
          <p:nvPr/>
        </p:nvSpPr>
        <p:spPr>
          <a:xfrm>
            <a:off x="10515600" y="6537960"/>
            <a:ext cx="1371600" cy="274320"/>
          </a:xfrm>
          <a:prstGeom prst="rect">
            <a:avLst/>
          </a:prstGeom>
          <a:noFill/>
        </p:spPr>
        <p:txBody>
          <a:bodyPr wrap="none">
            <a:spAutoFit/>
          </a:bodyPr>
          <a:lstStyle/>
          <a:p>
            <a:pPr algn="r"/>
            <a:r>
              <a:rPr sz="900">
                <a:solidFill>
                  <a:srgbClr val="90A8C4"/>
                </a:solidFill>
                <a:latin typeface="Calibri"/>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1229</Words>
  <Application>Microsoft Office PowerPoint</Application>
  <PresentationFormat>Grand écran</PresentationFormat>
  <Paragraphs>197</Paragraphs>
  <Slides>13</Slides>
  <Notes>1</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13</vt:i4>
      </vt:variant>
    </vt:vector>
  </HeadingPairs>
  <TitlesOfParts>
    <vt:vector size="16"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SORE-FADAL</cp:lastModifiedBy>
  <cp:revision>7</cp:revision>
  <dcterms:created xsi:type="dcterms:W3CDTF">2013-01-27T09:14:16Z</dcterms:created>
  <dcterms:modified xsi:type="dcterms:W3CDTF">2026-07-10T16:58:01Z</dcterms:modified>
  <cp:category/>
</cp:coreProperties>
</file>